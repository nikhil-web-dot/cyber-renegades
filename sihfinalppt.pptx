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81" r:id="rId3"/>
    <p:sldId id="258" r:id="rId4"/>
    <p:sldId id="259" r:id="rId5"/>
    <p:sldId id="282" r:id="rId6"/>
    <p:sldId id="283" r:id="rId7"/>
  </p:sldIdLst>
  <p:sldSz cx="9144000" cy="5143500" type="screen16x9"/>
  <p:notesSz cx="6858000" cy="9144000"/>
  <p:embeddedFontLst>
    <p:embeddedFont>
      <p:font typeface="ＭＳ Ｐゴシック" panose="020B0600070205080204" pitchFamily="34" charset="-128"/>
      <p:regular r:id="rId9"/>
    </p:embeddedFont>
    <p:embeddedFont>
      <p:font typeface="Algerian" panose="04020705040A02060702" pitchFamily="82" charset="0"/>
      <p:regular r:id="rId10"/>
    </p:embeddedFont>
    <p:embeddedFont>
      <p:font typeface="Garamond" panose="02020404030301010803" pitchFamily="18" charset="0"/>
      <p:regular r:id="rId11"/>
      <p:bold r:id="rId12"/>
      <p:italic r:id="rId13"/>
      <p:boldItalic r:id="rId14"/>
    </p:embeddedFont>
    <p:embeddedFont>
      <p:font typeface="Lucida Sans Unicode" panose="020B0602030504020204" pitchFamily="34" charset="0"/>
      <p:regular r:id="rId15"/>
    </p:embeddedFont>
    <p:embeddedFont>
      <p:font typeface="Oswald" panose="00000500000000000000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B9CDE5"/>
    <a:srgbClr val="007BB8"/>
    <a:srgbClr val="D0D7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7" d="100"/>
          <a:sy n="127" d="100"/>
        </p:scale>
        <p:origin x="17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1T15:15:17.858"/>
    </inkml:context>
    <inkml:brush xml:id="br0">
      <inkml:brushProperty name="width" value="0.02646" units="cm"/>
      <inkml:brushProperty name="height" value="0.02646" units="cm"/>
    </inkml:brush>
  </inkml:definitions>
  <inkml:trace contextRef="#ctx0" brushRef="#br0">0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71453b83c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g3f71453b83c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1453b83c_2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06" name="Google Shape;106;g3f71453b83c_2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f71453b83c_2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f71453b83c_2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18" name="Google Shape;118;g3f71453b83c_2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g3f71453b83c_2_10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71453b83c_2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30" name="Google Shape;130;g3f71453b83c_2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f71453b83c_2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f71453b83c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49" name="Google Shape;149;g3f71453b83c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g3f71453b83c_2_1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</a:pPr>
            <a:fld id="{00000000-1234-1234-1234-123412341234}" type="slidenum">
              <a:rPr lang="en"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2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722313" y="3305177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3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457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4648200" y="1200152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marL="914400" lvl="1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marL="1371600" lvl="2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4645027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4645027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marL="914400" lvl="1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marL="2286000" lvl="4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marL="2743200" lvl="5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1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04790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810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marL="1371600" lvl="2" indent="-3429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marL="2286000" lvl="4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marL="2743200" lvl="5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1" y="1076327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5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685455" y="-1406723"/>
            <a:ext cx="3773091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marL="1371600" lvl="2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marL="2286000" lvl="4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marL="2743200" lvl="5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lvl="1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lvl="2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lvl="3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lvl="4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lvl="5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lvl="6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lvl="7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lvl="8" indent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33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821531"/>
            <a:ext cx="8229600" cy="3773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457200" marR="0" lvl="0" indent="-381000" algn="l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914400" marR="0" lvl="1" indent="-3619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sz="21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137160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2743200" marR="0" lvl="5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900" b="0" i="0" u="none" strike="noStrike" cap="none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svg"/><Relationship Id="rId10" Type="http://schemas.openxmlformats.org/officeDocument/2006/relationships/image" Target="../media/image10.jpe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0.png"/><Relationship Id="rId4" Type="http://schemas.openxmlformats.org/officeDocument/2006/relationships/customXml" Target="../ink/ink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nthropic.com/claude" TargetMode="External"/><Relationship Id="rId3" Type="http://schemas.openxmlformats.org/officeDocument/2006/relationships/image" Target="../media/image2.png"/><Relationship Id="rId7" Type="http://schemas.openxmlformats.org/officeDocument/2006/relationships/hyperlink" Target="https://arxiv.org/abs/1407.3561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bosch-sensortec.com/en/products/environmental-sensors/gas-sensors/bme688" TargetMode="External"/><Relationship Id="rId5" Type="http://schemas.openxmlformats.org/officeDocument/2006/relationships/hyperlink" Target="https://www.ti.com/tool/IWR6843AOPEVM" TargetMode="External"/><Relationship Id="rId4" Type="http://schemas.openxmlformats.org/officeDocument/2006/relationships/hyperlink" Target="https://www.ti.com/product/IWR6843AO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43100" y="-1"/>
            <a:ext cx="6858000" cy="50992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242585" y="638641"/>
            <a:ext cx="3478953" cy="3866225"/>
          </a:xfrm>
          <a:custGeom>
            <a:avLst/>
            <a:gdLst/>
            <a:ahLst/>
            <a:cxnLst/>
            <a:rect l="l" t="t" r="r" b="b"/>
            <a:pathLst>
              <a:path w="6184806" h="5154967" extrusionOk="0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rgbClr val="7F7F7F">
              <a:alpha val="14902"/>
            </a:srgbClr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3">
            <a:alphaModFix/>
          </a:blip>
          <a:srcRect r="59916"/>
          <a:stretch/>
        </p:blipFill>
        <p:spPr>
          <a:xfrm>
            <a:off x="5141168" y="1286911"/>
            <a:ext cx="2402632" cy="2569678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934265" y="36251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 rtl="0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TITLE PAGE</a:t>
            </a:r>
            <a:endParaRPr b="1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177650" y="-197048"/>
            <a:ext cx="7788900" cy="119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SMART INDIA HACKATHON 2026</a:t>
            </a:r>
            <a:endParaRPr sz="3000" b="1" dirty="0">
              <a:solidFill>
                <a:schemeClr val="dk2"/>
              </a:solidFill>
              <a:latin typeface="Garamond"/>
              <a:ea typeface="Garamond"/>
              <a:cs typeface="Garamond"/>
              <a:sym typeface="Garamond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67921" y="1148825"/>
            <a:ext cx="5460589" cy="2916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ID –  </a:t>
            </a:r>
            <a:r>
              <a:rPr lang="en" sz="1200" dirty="0">
                <a:solidFill>
                  <a:srgbClr val="21252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SIH26026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lvl="0" indent="-196850" algn="just">
              <a:lnSpc>
                <a:spcPct val="150000"/>
              </a:lnSpc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Problem Statement Title -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of Mobile (Quadruped)/Handheld Device/System for Real-Time Detection of Narcotics and Explosives across Indian Railways.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Theme</a:t>
            </a: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" sz="1200" dirty="0">
                <a:solidFill>
                  <a:srgbClr val="212529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Blockchain &amp; Cybersecurity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PS Category-</a:t>
            </a: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Hardware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lvl="0" indent="-196850" algn="just">
              <a:lnSpc>
                <a:spcPct val="200000"/>
              </a:lnSpc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ID- </a:t>
            </a:r>
            <a:r>
              <a:rPr lang="en-US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120731</a:t>
            </a: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900" marR="0" lvl="0" indent="-19685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Team Name (Registered on portal)</a:t>
            </a:r>
            <a:r>
              <a:rPr lang="en" sz="12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en" sz="12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Cyber Renegades </a:t>
            </a:r>
            <a:endParaRPr sz="12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9F22168-F0EF-1AF5-7921-3621C7F5B9C8}"/>
              </a:ext>
            </a:extLst>
          </p:cNvPr>
          <p:cNvSpPr/>
          <p:nvPr/>
        </p:nvSpPr>
        <p:spPr>
          <a:xfrm>
            <a:off x="48790" y="2380435"/>
            <a:ext cx="4399207" cy="2406395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→ Legal Proof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Alarm → black-box confirmation →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blockchain-backed evidence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Tamper-proof Evidence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+ blockchain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protects evidence integrity while keeping originals retrievable.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Offline-First Operation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 evidence offline and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syncs automatically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when connectivity returns.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Detachable Inspection Unit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Detection module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unclips for close-range manual RPF inspection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Robot, Multiple Environments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Patrols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platforms, coaches &amp; tracks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one unit.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On-Board Black-Box Confirmation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Confirms suspected substance on-site—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lab wait.</a:t>
            </a:r>
            <a:endParaRPr lang="en-IN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4812987"/>
            <a:ext cx="9143999" cy="377429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>
              <a:defRPr/>
            </a:pPr>
            <a:endParaRPr lang="en-US" sz="1050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391104" y="269020"/>
            <a:ext cx="6002301" cy="448817"/>
          </a:xfrm>
        </p:spPr>
        <p:txBody>
          <a:bodyPr/>
          <a:lstStyle/>
          <a:p>
            <a:br>
              <a:rPr lang="en-US" sz="20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RAKSHAK-K9: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Multi-Sensor Robotic System for Real-Time Detection of Narcotics and Explosives Across Indian Railways</a:t>
            </a:r>
            <a:br>
              <a:rPr lang="en-US" dirty="0"/>
            </a:br>
            <a:br>
              <a:rPr lang="en-US" sz="2000" dirty="0"/>
            </a:br>
            <a:endParaRPr lang="en-US" sz="20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8338" y="44555"/>
            <a:ext cx="1371546" cy="643497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" sz="1050" b="1" dirty="0">
                <a:latin typeface="Algerian" panose="04020705040A02060702" pitchFamily="82" charset="0"/>
                <a:cs typeface="Times New Roman" panose="02020603050405020304" pitchFamily="18" charset="0"/>
              </a:rPr>
              <a:t>Cyber Renegades</a:t>
            </a:r>
            <a:endParaRPr lang="en-IN" sz="1050" dirty="0">
              <a:latin typeface="Algerian" panose="04020705040A02060702" pitchFamily="82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8274" y="-25587"/>
            <a:ext cx="1687388" cy="717766"/>
          </a:xfrm>
          <a:prstGeom prst="rect">
            <a:avLst/>
          </a:prstGeom>
        </p:spPr>
      </p:pic>
      <p:sp>
        <p:nvSpPr>
          <p:cNvPr id="2" name="Google Shape;99;p14">
            <a:extLst>
              <a:ext uri="{FF2B5EF4-FFF2-40B4-BE49-F238E27FC236}">
                <a16:creationId xmlns:a16="http://schemas.microsoft.com/office/drawing/2014/main" id="{47F96C30-0E4A-D3FF-C241-434E21BE4D19}"/>
              </a:ext>
            </a:extLst>
          </p:cNvPr>
          <p:cNvSpPr txBox="1">
            <a:spLocks/>
          </p:cNvSpPr>
          <p:nvPr/>
        </p:nvSpPr>
        <p:spPr>
          <a:xfrm>
            <a:off x="6704966" y="2949434"/>
            <a:ext cx="1981834" cy="24768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spcFirstLastPara="1" wrap="square" lIns="68575" tIns="34275" rIns="68575" bIns="3427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900" b="0" i="0" u="none" strike="noStrike" cap="none" spc="0">
                <a:solidFill>
                  <a:srgbClr val="898989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fld id="{00000000-1234-1234-1234-123412341234}" type="slidenum">
              <a:rPr lang="en" b="1" smtClean="0">
                <a:solidFill>
                  <a:schemeClr val="lt1"/>
                </a:solidFill>
              </a:rPr>
              <a:pPr/>
              <a:t>2</a:t>
            </a:fld>
            <a:endParaRPr lang="en" b="1">
              <a:solidFill>
                <a:schemeClr val="lt1"/>
              </a:solidFill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58B92189-3F58-4224-A23E-36F2AE443E18}"/>
              </a:ext>
            </a:extLst>
          </p:cNvPr>
          <p:cNvSpPr/>
          <p:nvPr/>
        </p:nvSpPr>
        <p:spPr>
          <a:xfrm>
            <a:off x="1095449" y="2196418"/>
            <a:ext cx="2232071" cy="247684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UNIQUENESS/ INNOVATION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9671508-7B52-9EFC-1A65-3185EF75FDC2}"/>
              </a:ext>
            </a:extLst>
          </p:cNvPr>
          <p:cNvSpPr/>
          <p:nvPr/>
        </p:nvSpPr>
        <p:spPr>
          <a:xfrm>
            <a:off x="106456" y="952996"/>
            <a:ext cx="4341541" cy="1162495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Wingdings" panose="05000000000000000000" pitchFamily="2" charset="2"/>
              <a:buChar char="Ø"/>
            </a:pPr>
            <a:endParaRPr lang="en-US" sz="1200" b="1" dirty="0">
              <a:solidFill>
                <a:srgbClr val="007B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Ø"/>
            </a:pPr>
            <a:endParaRPr lang="en-US" sz="1100" b="1" dirty="0">
              <a:solidFill>
                <a:srgbClr val="007B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 Field Detection Tech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RPF secures 1000s of stations but has zero mobile system for real-time narcotics/explosives screening.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Manual Checks Don't Scale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₹300 Cr seized in 2025 alone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yet what's caught is a fraction of what moves through.</a:t>
            </a:r>
          </a:p>
          <a:p>
            <a:pPr marL="171450" lvl="0" indent="-171450">
              <a:buFont typeface="Wingdings" panose="05000000000000000000" pitchFamily="2" charset="2"/>
              <a:buChar char="Ø"/>
            </a:pPr>
            <a:r>
              <a:rPr lang="en-US" sz="1100" b="1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Doesn't Hold Up</a:t>
            </a:r>
            <a:r>
              <a:rPr lang="en-US" sz="1100" dirty="0">
                <a:solidFill>
                  <a:srgbClr val="007BB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verifiable chain of custody means a catch can be challenged in court.</a:t>
            </a:r>
          </a:p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1A89CDC2-8D72-2C37-DDEA-60BECB8E4490}"/>
              </a:ext>
            </a:extLst>
          </p:cNvPr>
          <p:cNvSpPr/>
          <p:nvPr/>
        </p:nvSpPr>
        <p:spPr>
          <a:xfrm>
            <a:off x="4572000" y="952996"/>
            <a:ext cx="4463663" cy="3833834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Rakshak-K9</a:t>
            </a:r>
            <a:r>
              <a:rPr lang="en-US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/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autonomous AI robot that patrols railway premises, detects narcotics and explosives using multi-sensor fusion, alerts RPF instantly, and stores tamper-proof evidence on blockchain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Single Corner Rounded 24">
            <a:extLst>
              <a:ext uri="{FF2B5EF4-FFF2-40B4-BE49-F238E27FC236}">
                <a16:creationId xmlns:a16="http://schemas.microsoft.com/office/drawing/2014/main" id="{1ABA1E6B-E186-1CF6-FC60-C74126187D4C}"/>
              </a:ext>
            </a:extLst>
          </p:cNvPr>
          <p:cNvSpPr/>
          <p:nvPr/>
        </p:nvSpPr>
        <p:spPr>
          <a:xfrm>
            <a:off x="5163455" y="2069986"/>
            <a:ext cx="1045285" cy="353645"/>
          </a:xfrm>
          <a:prstGeom prst="round1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7B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Detachable Handheld Unit</a:t>
            </a:r>
            <a:endParaRPr lang="en-US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12C280B-E6B8-BC23-6678-8EDC0D2F31BF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5686098" y="2423631"/>
            <a:ext cx="646645" cy="48519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: Single Corner Rounded 31">
            <a:extLst>
              <a:ext uri="{FF2B5EF4-FFF2-40B4-BE49-F238E27FC236}">
                <a16:creationId xmlns:a16="http://schemas.microsoft.com/office/drawing/2014/main" id="{3E353676-9FD6-9DE2-B7A2-B9CC3352236A}"/>
              </a:ext>
            </a:extLst>
          </p:cNvPr>
          <p:cNvSpPr/>
          <p:nvPr/>
        </p:nvSpPr>
        <p:spPr>
          <a:xfrm>
            <a:off x="6564427" y="1966450"/>
            <a:ext cx="1101373" cy="529233"/>
          </a:xfrm>
          <a:prstGeom prst="round1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7B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Autonomous Patrolling Using LiDAR-IMU</a:t>
            </a:r>
          </a:p>
          <a:p>
            <a:pPr algn="ctr"/>
            <a:endParaRPr lang="en-IN" sz="1200" b="1" dirty="0"/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12BBB8F-8F8F-5CC4-ABAC-FAF65BB6CB34}"/>
              </a:ext>
            </a:extLst>
          </p:cNvPr>
          <p:cNvCxnSpPr>
            <a:cxnSpLocks/>
            <a:stCxn id="32" idx="2"/>
          </p:cNvCxnSpPr>
          <p:nvPr/>
        </p:nvCxnSpPr>
        <p:spPr>
          <a:xfrm flipH="1">
            <a:off x="6818506" y="2495683"/>
            <a:ext cx="296608" cy="26601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angle: Single Corner Rounded 38">
            <a:extLst>
              <a:ext uri="{FF2B5EF4-FFF2-40B4-BE49-F238E27FC236}">
                <a16:creationId xmlns:a16="http://schemas.microsoft.com/office/drawing/2014/main" id="{05055ECF-D1CF-39BA-99D3-B9AFA078529A}"/>
              </a:ext>
            </a:extLst>
          </p:cNvPr>
          <p:cNvSpPr/>
          <p:nvPr/>
        </p:nvSpPr>
        <p:spPr>
          <a:xfrm>
            <a:off x="4661360" y="2697092"/>
            <a:ext cx="876436" cy="310997"/>
          </a:xfrm>
          <a:prstGeom prst="round1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007BB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 Wave</a:t>
            </a:r>
          </a:p>
          <a:p>
            <a:pPr algn="ctr"/>
            <a:r>
              <a:rPr lang="en-US" sz="1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Radar</a:t>
            </a:r>
          </a:p>
          <a:p>
            <a:pPr algn="ctr"/>
            <a:endParaRPr lang="en-IN" dirty="0"/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73E1EBA2-F1FA-2AA1-6C7C-4C703DAF378D}"/>
              </a:ext>
            </a:extLst>
          </p:cNvPr>
          <p:cNvCxnSpPr>
            <a:cxnSpLocks/>
            <a:stCxn id="39" idx="2"/>
          </p:cNvCxnSpPr>
          <p:nvPr/>
        </p:nvCxnSpPr>
        <p:spPr>
          <a:xfrm>
            <a:off x="5099578" y="3008089"/>
            <a:ext cx="357114" cy="2868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5688AA5-B8A2-E634-4206-80F2BD3E13B4}"/>
              </a:ext>
            </a:extLst>
          </p:cNvPr>
          <p:cNvSpPr/>
          <p:nvPr/>
        </p:nvSpPr>
        <p:spPr>
          <a:xfrm>
            <a:off x="1391104" y="808546"/>
            <a:ext cx="1763821" cy="2627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EXISTING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B150EA-BEA1-3677-8977-CB8EEA701083}"/>
              </a:ext>
            </a:extLst>
          </p:cNvPr>
          <p:cNvSpPr/>
          <p:nvPr/>
        </p:nvSpPr>
        <p:spPr>
          <a:xfrm>
            <a:off x="5806826" y="813045"/>
            <a:ext cx="1994009" cy="2627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 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75B9017-9F78-6B02-4E0C-16119C7964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247" y="2750733"/>
            <a:ext cx="2838306" cy="1597396"/>
          </a:xfrm>
          <a:prstGeom prst="rect">
            <a:avLst/>
          </a:prstGeom>
        </p:spPr>
      </p:pic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F591E87-C689-3C44-0750-18A79710B2CC}"/>
              </a:ext>
            </a:extLst>
          </p:cNvPr>
          <p:cNvCxnSpPr>
            <a:cxnSpLocks/>
            <a:stCxn id="36" idx="3"/>
          </p:cNvCxnSpPr>
          <p:nvPr/>
        </p:nvCxnSpPr>
        <p:spPr>
          <a:xfrm flipV="1">
            <a:off x="5331321" y="3434315"/>
            <a:ext cx="924495" cy="4988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: Single Corner Rounded 35">
            <a:extLst>
              <a:ext uri="{FF2B5EF4-FFF2-40B4-BE49-F238E27FC236}">
                <a16:creationId xmlns:a16="http://schemas.microsoft.com/office/drawing/2014/main" id="{597B5C84-B51C-5860-F68C-6FD5831709C3}"/>
              </a:ext>
            </a:extLst>
          </p:cNvPr>
          <p:cNvSpPr/>
          <p:nvPr/>
        </p:nvSpPr>
        <p:spPr>
          <a:xfrm>
            <a:off x="4661536" y="3763645"/>
            <a:ext cx="669785" cy="339008"/>
          </a:xfrm>
          <a:prstGeom prst="round1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RGB Camera</a:t>
            </a:r>
          </a:p>
        </p:txBody>
      </p:sp>
      <p:sp>
        <p:nvSpPr>
          <p:cNvPr id="54" name="Rectangle: Single Corner Rounded 53">
            <a:extLst>
              <a:ext uri="{FF2B5EF4-FFF2-40B4-BE49-F238E27FC236}">
                <a16:creationId xmlns:a16="http://schemas.microsoft.com/office/drawing/2014/main" id="{8A99A39B-D443-0D85-18F4-CB0779F42D8C}"/>
              </a:ext>
            </a:extLst>
          </p:cNvPr>
          <p:cNvSpPr/>
          <p:nvPr/>
        </p:nvSpPr>
        <p:spPr>
          <a:xfrm>
            <a:off x="7982554" y="2438902"/>
            <a:ext cx="983861" cy="457939"/>
          </a:xfrm>
          <a:prstGeom prst="round1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75"/>
              </a:spcBef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On-Board Swab Test Kit</a:t>
            </a:r>
          </a:p>
          <a:p>
            <a:pPr algn="ctr">
              <a:spcBef>
                <a:spcPts val="75"/>
              </a:spcBef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(Black Box)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140D7165-96AA-4CB4-614C-B9B78808FEA7}"/>
              </a:ext>
            </a:extLst>
          </p:cNvPr>
          <p:cNvCxnSpPr>
            <a:cxnSpLocks/>
            <a:stCxn id="54" idx="1"/>
          </p:cNvCxnSpPr>
          <p:nvPr/>
        </p:nvCxnSpPr>
        <p:spPr>
          <a:xfrm flipH="1">
            <a:off x="7274768" y="2667872"/>
            <a:ext cx="707786" cy="33415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60" name="Rectangle: Single Corner Rounded 15359">
            <a:extLst>
              <a:ext uri="{FF2B5EF4-FFF2-40B4-BE49-F238E27FC236}">
                <a16:creationId xmlns:a16="http://schemas.microsoft.com/office/drawing/2014/main" id="{28872A5B-DED2-AF16-2076-6AA7EF6B5F76}"/>
              </a:ext>
            </a:extLst>
          </p:cNvPr>
          <p:cNvSpPr/>
          <p:nvPr/>
        </p:nvSpPr>
        <p:spPr>
          <a:xfrm>
            <a:off x="7841786" y="3054619"/>
            <a:ext cx="1161446" cy="457939"/>
          </a:xfrm>
          <a:prstGeom prst="round1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spcBef>
                <a:spcPts val="75"/>
              </a:spcBef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75"/>
              </a:spcBef>
            </a:pP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BME688 ( VOC-based detection)</a:t>
            </a:r>
          </a:p>
          <a:p>
            <a:pPr algn="ctr">
              <a:spcBef>
                <a:spcPts val="75"/>
              </a:spcBef>
            </a:pPr>
            <a:endParaRPr lang="en-US" sz="1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62" name="Straight Arrow Connector 15361">
            <a:extLst>
              <a:ext uri="{FF2B5EF4-FFF2-40B4-BE49-F238E27FC236}">
                <a16:creationId xmlns:a16="http://schemas.microsoft.com/office/drawing/2014/main" id="{2EB66383-A554-D979-B665-085BD17578D4}"/>
              </a:ext>
            </a:extLst>
          </p:cNvPr>
          <p:cNvCxnSpPr>
            <a:cxnSpLocks/>
            <a:stCxn id="15360" idx="1"/>
          </p:cNvCxnSpPr>
          <p:nvPr/>
        </p:nvCxnSpPr>
        <p:spPr>
          <a:xfrm flipH="1" flipV="1">
            <a:off x="6902545" y="3084887"/>
            <a:ext cx="939241" cy="1987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378" name="Rectangle: Single Corner Rounded 15377">
            <a:extLst>
              <a:ext uri="{FF2B5EF4-FFF2-40B4-BE49-F238E27FC236}">
                <a16:creationId xmlns:a16="http://schemas.microsoft.com/office/drawing/2014/main" id="{D1B9C74F-D12D-8500-68F7-75B0B817BCB9}"/>
              </a:ext>
            </a:extLst>
          </p:cNvPr>
          <p:cNvSpPr/>
          <p:nvPr/>
        </p:nvSpPr>
        <p:spPr>
          <a:xfrm>
            <a:off x="5371893" y="4382747"/>
            <a:ext cx="2893225" cy="336721"/>
          </a:xfrm>
          <a:prstGeom prst="round1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75"/>
              </a:spcBef>
            </a:pPr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75"/>
              </a:spcBef>
            </a:pPr>
            <a:r>
              <a:rPr lang="en-IN" sz="10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Fig : Custom Design Robotic System (Rakshak K9)</a:t>
            </a:r>
          </a:p>
          <a:p>
            <a:pPr algn="ctr">
              <a:spcBef>
                <a:spcPts val="75"/>
              </a:spcBef>
            </a:pPr>
            <a:endParaRPr lang="en-US" sz="10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>
            <a:off x="217251" y="45964"/>
            <a:ext cx="8229600" cy="5354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latin typeface="Times New Roman"/>
                <a:ea typeface="Times New Roman"/>
                <a:cs typeface="Times New Roman"/>
                <a:sym typeface="Times New Roman"/>
              </a:rPr>
              <a:t>TECHNICAL APPROACH</a:t>
            </a:r>
            <a:endParaRPr dirty="0"/>
          </a:p>
        </p:txBody>
      </p:sp>
      <p:sp>
        <p:nvSpPr>
          <p:cNvPr id="112" name="Google Shape;112;p15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lt1"/>
                </a:solidFill>
              </a:rPr>
              <a:t>3</a:t>
            </a:fld>
            <a:endParaRPr sz="700" b="1">
              <a:solidFill>
                <a:schemeClr val="lt1"/>
              </a:solidFill>
            </a:endParaRPr>
          </a:p>
        </p:txBody>
      </p:sp>
      <p:sp>
        <p:nvSpPr>
          <p:cNvPr id="114" name="Google Shape;114;p15" descr="Your startup LOGO"/>
          <p:cNvSpPr/>
          <p:nvPr/>
        </p:nvSpPr>
        <p:spPr>
          <a:xfrm>
            <a:off x="104934" y="92932"/>
            <a:ext cx="1293559" cy="533277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lvl="0" algn="ctr"/>
            <a:r>
              <a:rPr lang="en" sz="800" b="1" dirty="0">
                <a:solidFill>
                  <a:schemeClr val="dk1"/>
                </a:solidFill>
              </a:rPr>
              <a:t> </a:t>
            </a:r>
            <a:r>
              <a:rPr lang="en" sz="1000" b="1" dirty="0">
                <a:solidFill>
                  <a:schemeClr val="dk1"/>
                </a:solidFill>
                <a:latin typeface="Algerian" panose="04020705040A02060702" pitchFamily="82" charset="0"/>
                <a:cs typeface="Times New Roman" panose="02020603050405020304" pitchFamily="18" charset="0"/>
              </a:rPr>
              <a:t>Cyber Renegades </a:t>
            </a:r>
            <a:endParaRPr sz="1400" dirty="0">
              <a:solidFill>
                <a:schemeClr val="dk1"/>
              </a:solidFill>
              <a:latin typeface="Algerian" panose="04020705040A02060702" pitchFamily="82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pic>
        <p:nvPicPr>
          <p:cNvPr id="115" name="Google Shape;115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29499" y="1126"/>
            <a:ext cx="1592953" cy="625083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TextBox 417">
            <a:extLst>
              <a:ext uri="{FF2B5EF4-FFF2-40B4-BE49-F238E27FC236}">
                <a16:creationId xmlns:a16="http://schemas.microsoft.com/office/drawing/2014/main" id="{8DD91F1F-0657-A49A-5006-31B147256730}"/>
              </a:ext>
            </a:extLst>
          </p:cNvPr>
          <p:cNvSpPr txBox="1"/>
          <p:nvPr/>
        </p:nvSpPr>
        <p:spPr>
          <a:xfrm>
            <a:off x="15806115" y="1315850"/>
            <a:ext cx="10127488" cy="254634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 algn="ctr"/>
            <a:r>
              <a:rPr sz="1250" b="1" i="0">
                <a:solidFill>
                  <a:srgbClr val="111111"/>
                </a:solidFill>
                <a:latin typeface="Times New Roman"/>
              </a:rPr>
              <a:t>YES</a:t>
            </a:r>
          </a:p>
        </p:txBody>
      </p:sp>
      <p:sp>
        <p:nvSpPr>
          <p:cNvPr id="550" name="Rectangle: Rounded Corners 549">
            <a:extLst>
              <a:ext uri="{FF2B5EF4-FFF2-40B4-BE49-F238E27FC236}">
                <a16:creationId xmlns:a16="http://schemas.microsoft.com/office/drawing/2014/main" id="{BDB14472-96DA-5DE6-AAEF-2C86EFEE7906}"/>
              </a:ext>
            </a:extLst>
          </p:cNvPr>
          <p:cNvSpPr/>
          <p:nvPr/>
        </p:nvSpPr>
        <p:spPr>
          <a:xfrm>
            <a:off x="104934" y="700332"/>
            <a:ext cx="5732375" cy="3946824"/>
          </a:xfrm>
          <a:prstGeom prst="roundRect">
            <a:avLst>
              <a:gd name="adj" fmla="val 10762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2" name="Rectangle: Rounded Corners 551">
            <a:extLst>
              <a:ext uri="{FF2B5EF4-FFF2-40B4-BE49-F238E27FC236}">
                <a16:creationId xmlns:a16="http://schemas.microsoft.com/office/drawing/2014/main" id="{B1E5C8E9-6853-62F8-B636-B4EC756313AF}"/>
              </a:ext>
            </a:extLst>
          </p:cNvPr>
          <p:cNvSpPr/>
          <p:nvPr/>
        </p:nvSpPr>
        <p:spPr>
          <a:xfrm>
            <a:off x="1984550" y="588895"/>
            <a:ext cx="1763821" cy="2627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FLOW</a:t>
            </a:r>
          </a:p>
        </p:txBody>
      </p:sp>
      <p:pic>
        <p:nvPicPr>
          <p:cNvPr id="554" name="Picture 2">
            <a:extLst>
              <a:ext uri="{FF2B5EF4-FFF2-40B4-BE49-F238E27FC236}">
                <a16:creationId xmlns:a16="http://schemas.microsoft.com/office/drawing/2014/main" id="{A664D173-A5BB-711B-701D-BBB039BDC7A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611" t="5081" r="13965" b="1616"/>
          <a:stretch>
            <a:fillRect/>
          </a:stretch>
        </p:blipFill>
        <p:spPr>
          <a:xfrm>
            <a:off x="211282" y="916372"/>
            <a:ext cx="5519677" cy="3514699"/>
          </a:xfrm>
          <a:prstGeom prst="rect">
            <a:avLst/>
          </a:prstGeom>
        </p:spPr>
      </p:pic>
      <p:sp>
        <p:nvSpPr>
          <p:cNvPr id="555" name="Rectangle: Rounded Corners 554">
            <a:extLst>
              <a:ext uri="{FF2B5EF4-FFF2-40B4-BE49-F238E27FC236}">
                <a16:creationId xmlns:a16="http://schemas.microsoft.com/office/drawing/2014/main" id="{B90FC33A-442F-D5DF-3734-BC25B8F23D50}"/>
              </a:ext>
            </a:extLst>
          </p:cNvPr>
          <p:cNvSpPr/>
          <p:nvPr/>
        </p:nvSpPr>
        <p:spPr>
          <a:xfrm>
            <a:off x="5906147" y="3861200"/>
            <a:ext cx="3132919" cy="771750"/>
          </a:xfrm>
          <a:prstGeom prst="roundRect">
            <a:avLst>
              <a:gd name="adj" fmla="val 21959"/>
            </a:avLst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3" name="Rectangle: Rounded Corners 562">
            <a:extLst>
              <a:ext uri="{FF2B5EF4-FFF2-40B4-BE49-F238E27FC236}">
                <a16:creationId xmlns:a16="http://schemas.microsoft.com/office/drawing/2014/main" id="{CF9F0ABA-40B4-0D7B-8460-AFB2942E5BFB}"/>
              </a:ext>
            </a:extLst>
          </p:cNvPr>
          <p:cNvSpPr/>
          <p:nvPr/>
        </p:nvSpPr>
        <p:spPr>
          <a:xfrm>
            <a:off x="6519415" y="3772734"/>
            <a:ext cx="1763821" cy="178497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</a:t>
            </a:r>
          </a:p>
        </p:txBody>
      </p:sp>
      <p:pic>
        <p:nvPicPr>
          <p:cNvPr id="564" name="Picture 563">
            <a:extLst>
              <a:ext uri="{FF2B5EF4-FFF2-40B4-BE49-F238E27FC236}">
                <a16:creationId xmlns:a16="http://schemas.microsoft.com/office/drawing/2014/main" id="{448BB0AF-DF3D-25BC-5F3D-A3A67B996B1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69950"/>
          <a:stretch>
            <a:fillRect/>
          </a:stretch>
        </p:blipFill>
        <p:spPr>
          <a:xfrm>
            <a:off x="6470950" y="4056142"/>
            <a:ext cx="462823" cy="253533"/>
          </a:xfrm>
          <a:prstGeom prst="rect">
            <a:avLst/>
          </a:prstGeom>
        </p:spPr>
      </p:pic>
      <p:pic>
        <p:nvPicPr>
          <p:cNvPr id="565" name="Picture 564">
            <a:extLst>
              <a:ext uri="{FF2B5EF4-FFF2-40B4-BE49-F238E27FC236}">
                <a16:creationId xmlns:a16="http://schemas.microsoft.com/office/drawing/2014/main" id="{46287242-A6AE-98CA-F259-2BDF5ECCC6E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flipV="1">
            <a:off x="7090174" y="4101905"/>
            <a:ext cx="419569" cy="196620"/>
          </a:xfrm>
          <a:prstGeom prst="rect">
            <a:avLst/>
          </a:prstGeom>
        </p:spPr>
      </p:pic>
      <p:pic>
        <p:nvPicPr>
          <p:cNvPr id="566" name="Picture 565">
            <a:extLst>
              <a:ext uri="{FF2B5EF4-FFF2-40B4-BE49-F238E27FC236}">
                <a16:creationId xmlns:a16="http://schemas.microsoft.com/office/drawing/2014/main" id="{ED588133-C599-1D78-66D0-4041F64AD1E7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2473" t="27336" r="15347" b="26431"/>
          <a:stretch>
            <a:fillRect/>
          </a:stretch>
        </p:blipFill>
        <p:spPr>
          <a:xfrm>
            <a:off x="8661248" y="4106516"/>
            <a:ext cx="244669" cy="170380"/>
          </a:xfrm>
          <a:prstGeom prst="rect">
            <a:avLst/>
          </a:prstGeom>
        </p:spPr>
      </p:pic>
      <p:pic>
        <p:nvPicPr>
          <p:cNvPr id="567" name="Picture 566">
            <a:extLst>
              <a:ext uri="{FF2B5EF4-FFF2-40B4-BE49-F238E27FC236}">
                <a16:creationId xmlns:a16="http://schemas.microsoft.com/office/drawing/2014/main" id="{45A78DF8-4F95-9936-DE61-355FF774A29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050" t="17814" r="73594" b="24395"/>
          <a:stretch>
            <a:fillRect/>
          </a:stretch>
        </p:blipFill>
        <p:spPr>
          <a:xfrm>
            <a:off x="5958197" y="4070197"/>
            <a:ext cx="350728" cy="200469"/>
          </a:xfrm>
          <a:prstGeom prst="rect">
            <a:avLst/>
          </a:prstGeom>
        </p:spPr>
      </p:pic>
      <p:sp>
        <p:nvSpPr>
          <p:cNvPr id="568" name="TextBox 567">
            <a:extLst>
              <a:ext uri="{FF2B5EF4-FFF2-40B4-BE49-F238E27FC236}">
                <a16:creationId xmlns:a16="http://schemas.microsoft.com/office/drawing/2014/main" id="{72F85286-533A-B051-6487-5EDC2CA728DB}"/>
              </a:ext>
            </a:extLst>
          </p:cNvPr>
          <p:cNvSpPr txBox="1"/>
          <p:nvPr/>
        </p:nvSpPr>
        <p:spPr>
          <a:xfrm>
            <a:off x="5873118" y="4258908"/>
            <a:ext cx="5848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</a:t>
            </a:r>
          </a:p>
        </p:txBody>
      </p:sp>
      <p:sp>
        <p:nvSpPr>
          <p:cNvPr id="569" name="TextBox 568">
            <a:extLst>
              <a:ext uri="{FF2B5EF4-FFF2-40B4-BE49-F238E27FC236}">
                <a16:creationId xmlns:a16="http://schemas.microsoft.com/office/drawing/2014/main" id="{6E8DFBE7-1F02-11E3-B0A9-5EA9D6A2A4DB}"/>
              </a:ext>
            </a:extLst>
          </p:cNvPr>
          <p:cNvSpPr txBox="1"/>
          <p:nvPr/>
        </p:nvSpPr>
        <p:spPr>
          <a:xfrm>
            <a:off x="6415518" y="4243764"/>
            <a:ext cx="584854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</a:t>
            </a:r>
          </a:p>
        </p:txBody>
      </p:sp>
      <p:sp>
        <p:nvSpPr>
          <p:cNvPr id="571" name="TextBox 570">
            <a:extLst>
              <a:ext uri="{FF2B5EF4-FFF2-40B4-BE49-F238E27FC236}">
                <a16:creationId xmlns:a16="http://schemas.microsoft.com/office/drawing/2014/main" id="{0FEF4003-2FDA-C46B-9CFA-9B12E57C6F74}"/>
              </a:ext>
            </a:extLst>
          </p:cNvPr>
          <p:cNvSpPr txBox="1"/>
          <p:nvPr/>
        </p:nvSpPr>
        <p:spPr>
          <a:xfrm>
            <a:off x="7049498" y="4258908"/>
            <a:ext cx="462823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</a:t>
            </a:r>
          </a:p>
        </p:txBody>
      </p:sp>
      <p:pic>
        <p:nvPicPr>
          <p:cNvPr id="572" name="Picture 571" descr="Blockchain Logo Template. Technology Vector Design. Cryptocurrency Illustration. Outstanding professional elegant trendy awesome artistic black and white color blockchain icon logo. Stock Vector">
            <a:extLst>
              <a:ext uri="{FF2B5EF4-FFF2-40B4-BE49-F238E27FC236}">
                <a16:creationId xmlns:a16="http://schemas.microsoft.com/office/drawing/2014/main" id="{F804D4E5-B537-3B48-1383-56CF6481D08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37654" t="30832" r="35721" b="45922"/>
          <a:stretch>
            <a:fillRect/>
          </a:stretch>
        </p:blipFill>
        <p:spPr>
          <a:xfrm>
            <a:off x="7742283" y="4107040"/>
            <a:ext cx="226292" cy="151735"/>
          </a:xfrm>
          <a:prstGeom prst="rect">
            <a:avLst/>
          </a:prstGeom>
        </p:spPr>
      </p:pic>
      <p:sp>
        <p:nvSpPr>
          <p:cNvPr id="574" name="TextBox 573">
            <a:extLst>
              <a:ext uri="{FF2B5EF4-FFF2-40B4-BE49-F238E27FC236}">
                <a16:creationId xmlns:a16="http://schemas.microsoft.com/office/drawing/2014/main" id="{B37CD970-18C0-74F7-AAAC-5F57565B775E}"/>
              </a:ext>
            </a:extLst>
          </p:cNvPr>
          <p:cNvSpPr txBox="1"/>
          <p:nvPr/>
        </p:nvSpPr>
        <p:spPr>
          <a:xfrm>
            <a:off x="7507334" y="4251876"/>
            <a:ext cx="6873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</a:t>
            </a:r>
            <a:endParaRPr lang="en-US" dirty="0"/>
          </a:p>
        </p:txBody>
      </p:sp>
      <p:pic>
        <p:nvPicPr>
          <p:cNvPr id="575" name="Picture 574" descr="Pinata Help Center">
            <a:extLst>
              <a:ext uri="{FF2B5EF4-FFF2-40B4-BE49-F238E27FC236}">
                <a16:creationId xmlns:a16="http://schemas.microsoft.com/office/drawing/2014/main" id="{F23995FE-4174-F38D-1DE1-84C107ED11D6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4534" r="80058" b="-1"/>
          <a:stretch>
            <a:fillRect/>
          </a:stretch>
        </p:blipFill>
        <p:spPr>
          <a:xfrm>
            <a:off x="8229878" y="4107681"/>
            <a:ext cx="273942" cy="181044"/>
          </a:xfrm>
          <a:prstGeom prst="rect">
            <a:avLst/>
          </a:prstGeo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B6DC030-9069-3FF1-2C70-03DFF3B7CF75}"/>
              </a:ext>
            </a:extLst>
          </p:cNvPr>
          <p:cNvSpPr/>
          <p:nvPr/>
        </p:nvSpPr>
        <p:spPr>
          <a:xfrm>
            <a:off x="5906147" y="704299"/>
            <a:ext cx="3149592" cy="3022757"/>
          </a:xfrm>
          <a:prstGeom prst="roundRect">
            <a:avLst>
              <a:gd name="adj" fmla="val 12877"/>
            </a:avLst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rtl="0"/>
            <a:endParaRPr lang="en-IN" sz="800" b="1" dirty="0"/>
          </a:p>
          <a:p>
            <a:pPr rtl="0"/>
            <a:endParaRPr lang="en-IN" sz="800" b="1" dirty="0"/>
          </a:p>
          <a:p>
            <a:pPr algn="ctr" rtl="0"/>
            <a:endParaRPr lang="en-IN" sz="800" b="1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2DAF863C-3D07-A045-A36D-6234C434A99E}"/>
              </a:ext>
            </a:extLst>
          </p:cNvPr>
          <p:cNvSpPr/>
          <p:nvPr/>
        </p:nvSpPr>
        <p:spPr>
          <a:xfrm>
            <a:off x="6478379" y="597607"/>
            <a:ext cx="1986813" cy="2627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 BOX WORKING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F5B20C-DCC8-CBFD-6F16-4587BE473B06}"/>
              </a:ext>
            </a:extLst>
          </p:cNvPr>
          <p:cNvSpPr txBox="1"/>
          <p:nvPr/>
        </p:nvSpPr>
        <p:spPr>
          <a:xfrm>
            <a:off x="8126130" y="4251084"/>
            <a:ext cx="687313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Pinata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AB21CC-D680-6896-0C1C-5C3D367412DE}"/>
              </a:ext>
            </a:extLst>
          </p:cNvPr>
          <p:cNvSpPr/>
          <p:nvPr/>
        </p:nvSpPr>
        <p:spPr>
          <a:xfrm>
            <a:off x="6046673" y="1011936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F57E4F-9144-FD43-1A46-24F0C9B75B15}"/>
              </a:ext>
            </a:extLst>
          </p:cNvPr>
          <p:cNvSpPr/>
          <p:nvPr/>
        </p:nvSpPr>
        <p:spPr>
          <a:xfrm>
            <a:off x="6047324" y="1297289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80649CF-EDBA-CF27-B337-B80BEA3A33AE}"/>
              </a:ext>
            </a:extLst>
          </p:cNvPr>
          <p:cNvSpPr/>
          <p:nvPr/>
        </p:nvSpPr>
        <p:spPr>
          <a:xfrm>
            <a:off x="6040701" y="1582642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65A10E6-1648-44DA-4C69-BE2FE51613A8}"/>
              </a:ext>
            </a:extLst>
          </p:cNvPr>
          <p:cNvSpPr/>
          <p:nvPr/>
        </p:nvSpPr>
        <p:spPr>
          <a:xfrm>
            <a:off x="6047324" y="1873515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32B020B-D265-FEC4-A51C-359E48E09C50}"/>
              </a:ext>
            </a:extLst>
          </p:cNvPr>
          <p:cNvSpPr/>
          <p:nvPr/>
        </p:nvSpPr>
        <p:spPr>
          <a:xfrm>
            <a:off x="6046673" y="2164388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A3B3973-04BD-28FF-86FB-4063013D2E38}"/>
              </a:ext>
            </a:extLst>
          </p:cNvPr>
          <p:cNvSpPr/>
          <p:nvPr/>
        </p:nvSpPr>
        <p:spPr>
          <a:xfrm>
            <a:off x="6046673" y="2449741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BA324F-8F18-317B-43C4-3B63813792F3}"/>
              </a:ext>
            </a:extLst>
          </p:cNvPr>
          <p:cNvSpPr/>
          <p:nvPr/>
        </p:nvSpPr>
        <p:spPr>
          <a:xfrm>
            <a:off x="6046673" y="2728263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D03863C-8A72-193D-B772-1BDD4A5B8D35}"/>
              </a:ext>
            </a:extLst>
          </p:cNvPr>
          <p:cNvSpPr/>
          <p:nvPr/>
        </p:nvSpPr>
        <p:spPr>
          <a:xfrm>
            <a:off x="6374552" y="1012637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Swab Collection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7B05258D-98BB-4CAA-5DEA-82CA8A9E9336}"/>
              </a:ext>
            </a:extLst>
          </p:cNvPr>
          <p:cNvSpPr/>
          <p:nvPr/>
        </p:nvSpPr>
        <p:spPr>
          <a:xfrm>
            <a:off x="7380685" y="1012637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Wipe suspect surface with silica-gel TLC swab</a:t>
            </a:r>
            <a:endParaRPr lang="en-IN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185B115B-B8F3-034E-F360-9D2466543EBB}"/>
              </a:ext>
            </a:extLst>
          </p:cNvPr>
          <p:cNvSpPr/>
          <p:nvPr/>
        </p:nvSpPr>
        <p:spPr>
          <a:xfrm>
            <a:off x="6374552" y="1305036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</a:t>
            </a:r>
            <a:r>
              <a:rPr lang="en-IN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DCM</a:t>
            </a:r>
            <a:endParaRPr lang="en-IN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DBC9D09-6AB2-7F66-7D99-58CF7A576FE4}"/>
              </a:ext>
            </a:extLst>
          </p:cNvPr>
          <p:cNvSpPr/>
          <p:nvPr/>
        </p:nvSpPr>
        <p:spPr>
          <a:xfrm>
            <a:off x="7386781" y="1305245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Spray DCM solution onto swab </a:t>
            </a:r>
            <a:r>
              <a:rPr 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(glows red-orange, QY = 15%)</a:t>
            </a:r>
            <a:endParaRPr lang="en-IN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A6B894A5-D77A-97E8-B1C5-D742A9E5DB41}"/>
              </a:ext>
            </a:extLst>
          </p:cNvPr>
          <p:cNvSpPr/>
          <p:nvPr/>
        </p:nvSpPr>
        <p:spPr>
          <a:xfrm>
            <a:off x="6380648" y="1585661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Seal Chamber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EB422047-D891-610B-C599-097B270DCB00}"/>
              </a:ext>
            </a:extLst>
          </p:cNvPr>
          <p:cNvSpPr/>
          <p:nvPr/>
        </p:nvSpPr>
        <p:spPr>
          <a:xfrm>
            <a:off x="7386781" y="1585661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 swab into black-box, exclude ambient light</a:t>
            </a:r>
            <a:endParaRPr lang="en-IN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028AF8F8-937E-B19B-205C-DF173C58B5AE}"/>
              </a:ext>
            </a:extLst>
          </p:cNvPr>
          <p:cNvSpPr/>
          <p:nvPr/>
        </p:nvSpPr>
        <p:spPr>
          <a:xfrm>
            <a:off x="6386744" y="1859981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(I_before)</a:t>
            </a:r>
            <a:endParaRPr lang="en-IN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59C248B6-9782-0697-EDEA-26A25FC1C238}"/>
              </a:ext>
            </a:extLst>
          </p:cNvPr>
          <p:cNvSpPr/>
          <p:nvPr/>
        </p:nvSpPr>
        <p:spPr>
          <a:xfrm>
            <a:off x="7392877" y="1859981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Photosensor records initial DCM glow at 620 nm</a:t>
            </a:r>
            <a:endParaRPr lang="en-IN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9AB270C3-E183-DBD1-2F34-4FC4233C9501}"/>
              </a:ext>
            </a:extLst>
          </p:cNvPr>
          <p:cNvSpPr/>
          <p:nvPr/>
        </p:nvSpPr>
        <p:spPr>
          <a:xfrm>
            <a:off x="6380648" y="2152589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UV LED ON (254 nm · 1–2 min)</a:t>
            </a:r>
            <a:endParaRPr lang="en-IN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778C388D-2E86-899B-7DD6-8E384FDE3FAD}"/>
              </a:ext>
            </a:extLst>
          </p:cNvPr>
          <p:cNvSpPr/>
          <p:nvPr/>
        </p:nvSpPr>
        <p:spPr>
          <a:xfrm>
            <a:off x="7386781" y="2152589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RDX/HMX → NO₂· · PETN → NO₂⁺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DF59DF9-3133-EC0A-BC29-DAA6C30C81BC}"/>
              </a:ext>
            </a:extLst>
          </p:cNvPr>
          <p:cNvSpPr/>
          <p:nvPr/>
        </p:nvSpPr>
        <p:spPr>
          <a:xfrm>
            <a:off x="6386744" y="2445197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Quenching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9C6C672-7034-6AF7-A390-2193C92B6486}"/>
              </a:ext>
            </a:extLst>
          </p:cNvPr>
          <p:cNvSpPr/>
          <p:nvPr/>
        </p:nvSpPr>
        <p:spPr>
          <a:xfrm>
            <a:off x="7392877" y="2445197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NO₂· / NO₂⁺ + DCM → DCM-NO₂ </a:t>
            </a:r>
            <a:r>
              <a:rPr lang="en-US" sz="800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(glow OFF )</a:t>
            </a:r>
            <a:endParaRPr lang="en-IN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65121DD-2C14-56F7-9C36-E0BD62D55817}"/>
              </a:ext>
            </a:extLst>
          </p:cNvPr>
          <p:cNvSpPr/>
          <p:nvPr/>
        </p:nvSpPr>
        <p:spPr>
          <a:xfrm>
            <a:off x="6380648" y="2731709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 (I_after)</a:t>
            </a:r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D49A6CC4-D619-1ECB-99AC-943AB81DA385}"/>
              </a:ext>
            </a:extLst>
          </p:cNvPr>
          <p:cNvSpPr/>
          <p:nvPr/>
        </p:nvSpPr>
        <p:spPr>
          <a:xfrm>
            <a:off x="7386781" y="2731709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Photosensor records post-UV intensity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3510E6A-BDED-0A28-8AC9-21F74F55573B}"/>
              </a:ext>
            </a:extLst>
          </p:cNvPr>
          <p:cNvSpPr/>
          <p:nvPr/>
        </p:nvSpPr>
        <p:spPr>
          <a:xfrm>
            <a:off x="6040701" y="3015756"/>
            <a:ext cx="298704" cy="212474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632FA48E-BB56-B921-23BA-71D0C16A58F1}"/>
              </a:ext>
            </a:extLst>
          </p:cNvPr>
          <p:cNvSpPr/>
          <p:nvPr/>
        </p:nvSpPr>
        <p:spPr>
          <a:xfrm>
            <a:off x="6380648" y="3006029"/>
            <a:ext cx="1006133" cy="22211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DB882EC4-CDEC-0FAB-BCF8-2C08403E329D}"/>
              </a:ext>
            </a:extLst>
          </p:cNvPr>
          <p:cNvSpPr/>
          <p:nvPr/>
        </p:nvSpPr>
        <p:spPr>
          <a:xfrm>
            <a:off x="7386781" y="3006029"/>
            <a:ext cx="1607991" cy="222118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Quenching % = 1 − (I_after / </a:t>
            </a:r>
            <a:r>
              <a:rPr lang="en-US" sz="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I_before</a:t>
            </a:r>
            <a:r>
              <a:rPr 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2046AC3F-B658-6E6E-4683-056E7040F181}"/>
              </a:ext>
            </a:extLst>
          </p:cNvPr>
          <p:cNvSpPr/>
          <p:nvPr/>
        </p:nvSpPr>
        <p:spPr>
          <a:xfrm>
            <a:off x="6221026" y="3426301"/>
            <a:ext cx="1177506" cy="22211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High: EXPLOSIVE DETECTED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55D924A-912F-4D30-2481-5C5A08984CE9}"/>
              </a:ext>
            </a:extLst>
          </p:cNvPr>
          <p:cNvSpPr/>
          <p:nvPr/>
        </p:nvSpPr>
        <p:spPr>
          <a:xfrm>
            <a:off x="7440027" y="3413793"/>
            <a:ext cx="1108079" cy="23276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 Low: CLEAR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DA4FCFA-5DCB-DD24-430B-EC2C3D7C2B6F}"/>
              </a:ext>
            </a:extLst>
          </p:cNvPr>
          <p:cNvCxnSpPr>
            <a:cxnSpLocks/>
          </p:cNvCxnSpPr>
          <p:nvPr/>
        </p:nvCxnSpPr>
        <p:spPr>
          <a:xfrm>
            <a:off x="6809183" y="3283800"/>
            <a:ext cx="118428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BBAB495-32F5-6BED-CBE3-D1A5C644533F}"/>
              </a:ext>
            </a:extLst>
          </p:cNvPr>
          <p:cNvCxnSpPr>
            <a:cxnSpLocks/>
          </p:cNvCxnSpPr>
          <p:nvPr/>
        </p:nvCxnSpPr>
        <p:spPr>
          <a:xfrm>
            <a:off x="6809183" y="3283800"/>
            <a:ext cx="0" cy="1481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9B266B15-BA12-DD91-9F06-7824FC61F2B3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993172" y="3280349"/>
            <a:ext cx="895" cy="13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C0352600-6B65-131A-F9A0-C6F339EB3C23}"/>
              </a:ext>
            </a:extLst>
          </p:cNvPr>
          <p:cNvSpPr txBox="1"/>
          <p:nvPr/>
        </p:nvSpPr>
        <p:spPr>
          <a:xfrm>
            <a:off x="8596744" y="4267163"/>
            <a:ext cx="35298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13B9765-35D3-8223-9637-09E98093EE5B}"/>
              </a:ext>
            </a:extLst>
          </p:cNvPr>
          <p:cNvSpPr/>
          <p:nvPr/>
        </p:nvSpPr>
        <p:spPr>
          <a:xfrm>
            <a:off x="4438185" y="3121551"/>
            <a:ext cx="4621438" cy="1605075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ECC6DFB-594B-E742-9895-978155A4DD81}"/>
              </a:ext>
            </a:extLst>
          </p:cNvPr>
          <p:cNvSpPr/>
          <p:nvPr/>
        </p:nvSpPr>
        <p:spPr>
          <a:xfrm>
            <a:off x="4438185" y="924109"/>
            <a:ext cx="4621438" cy="201437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1" name="Google Shape;121;p16"/>
          <p:cNvSpPr/>
          <p:nvPr/>
        </p:nvSpPr>
        <p:spPr>
          <a:xfrm>
            <a:off x="0" y="4767265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 dirty="0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latin typeface="Times New Roman"/>
                <a:ea typeface="Times New Roman"/>
                <a:cs typeface="Times New Roman"/>
                <a:sym typeface="Times New Roman"/>
              </a:rPr>
              <a:t>FEASIBILITY AND VIABILITY</a:t>
            </a:r>
            <a:endParaRPr dirty="0"/>
          </a:p>
        </p:txBody>
      </p:sp>
      <p:sp>
        <p:nvSpPr>
          <p:cNvPr id="124" name="Google Shape;124;p16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4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26" name="Google Shape;126;p16" descr="Your startup LOGO"/>
          <p:cNvSpPr/>
          <p:nvPr/>
        </p:nvSpPr>
        <p:spPr>
          <a:xfrm>
            <a:off x="247329" y="90155"/>
            <a:ext cx="1337630" cy="605501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algn="ctr"/>
            <a:r>
              <a:rPr lang="en" sz="1100" b="1" dirty="0">
                <a:latin typeface="Algerian" panose="04020705040A02060702" pitchFamily="82" charset="0"/>
              </a:rPr>
              <a:t>Cyber Renegades</a:t>
            </a:r>
            <a:endParaRPr lang="en-IN" sz="1100" dirty="0">
              <a:latin typeface="Algerian" panose="04020705040A02060702" pitchFamily="82" charset="0"/>
            </a:endParaRPr>
          </a:p>
        </p:txBody>
      </p:sp>
      <p:pic>
        <p:nvPicPr>
          <p:cNvPr id="127" name="Google Shape;12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065" y="1125"/>
            <a:ext cx="1687388" cy="716821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Rectangle: Top Corners Rounded 3">
            <a:extLst>
              <a:ext uri="{FF2B5EF4-FFF2-40B4-BE49-F238E27FC236}">
                <a16:creationId xmlns:a16="http://schemas.microsoft.com/office/drawing/2014/main" id="{E0B77A27-80A1-E13D-45F5-06293EB43BBD}"/>
              </a:ext>
            </a:extLst>
          </p:cNvPr>
          <p:cNvSpPr/>
          <p:nvPr/>
        </p:nvSpPr>
        <p:spPr>
          <a:xfrm>
            <a:off x="160010" y="819431"/>
            <a:ext cx="4152900" cy="251749"/>
          </a:xfrm>
          <a:prstGeom prst="round2Same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200" i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Risk </a:t>
            </a:r>
            <a:r>
              <a:rPr lang="en-IN" sz="12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</a:t>
            </a:r>
            <a:r>
              <a:rPr lang="en-IN" sz="1200" i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2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Mitigation 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C4C4DE78-63FF-7CF2-C14A-B39257B2D4A0}"/>
              </a:ext>
            </a:extLst>
          </p:cNvPr>
          <p:cNvSpPr/>
          <p:nvPr/>
        </p:nvSpPr>
        <p:spPr>
          <a:xfrm>
            <a:off x="160018" y="1134021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failure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A685CE3E-B866-8828-C3D2-BEE2EA649BFC}"/>
              </a:ext>
            </a:extLst>
          </p:cNvPr>
          <p:cNvSpPr/>
          <p:nvPr/>
        </p:nvSpPr>
        <p:spPr>
          <a:xfrm>
            <a:off x="160017" y="2043355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GPS Denied Environment 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894BFD0-2990-BC4A-F032-F6A9F0883A41}"/>
              </a:ext>
            </a:extLst>
          </p:cNvPr>
          <p:cNvSpPr/>
          <p:nvPr/>
        </p:nvSpPr>
        <p:spPr>
          <a:xfrm>
            <a:off x="2540941" y="2043354"/>
            <a:ext cx="1771971" cy="377429"/>
          </a:xfrm>
          <a:prstGeom prst="roundRect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camera + LiDAR + Imu + Encoder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Navigation</a:t>
            </a:r>
            <a:endParaRPr lang="en-IN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62A1E53-E99E-C570-67B5-992D584AAACC}"/>
              </a:ext>
            </a:extLst>
          </p:cNvPr>
          <p:cNvSpPr/>
          <p:nvPr/>
        </p:nvSpPr>
        <p:spPr>
          <a:xfrm>
            <a:off x="2540941" y="1588689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Multi-sensor fusion + AI analysis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1FA85C1-F9C5-C641-D2D2-8C3B31F97171}"/>
              </a:ext>
            </a:extLst>
          </p:cNvPr>
          <p:cNvSpPr/>
          <p:nvPr/>
        </p:nvSpPr>
        <p:spPr>
          <a:xfrm>
            <a:off x="2540942" y="1134020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Offline storage + automatic sync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reconnection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FD77265-0D5E-F3B5-BEF5-8221052915FE}"/>
              </a:ext>
            </a:extLst>
          </p:cNvPr>
          <p:cNvSpPr/>
          <p:nvPr/>
        </p:nvSpPr>
        <p:spPr>
          <a:xfrm>
            <a:off x="160017" y="1588688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 </a:t>
            </a:r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 detections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8272E2D-5B64-0383-A9B1-CBC955333D65}"/>
              </a:ext>
            </a:extLst>
          </p:cNvPr>
          <p:cNvSpPr/>
          <p:nvPr/>
        </p:nvSpPr>
        <p:spPr>
          <a:xfrm>
            <a:off x="160017" y="2499310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Difficult terrain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EB5EFCA1-E13F-27C1-8F49-EB3BD5AE4922}"/>
              </a:ext>
            </a:extLst>
          </p:cNvPr>
          <p:cNvSpPr/>
          <p:nvPr/>
        </p:nvSpPr>
        <p:spPr>
          <a:xfrm>
            <a:off x="2540939" y="3401627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provides on-site verification.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3D7DF0FA-AF60-713C-87FC-B6E722C71542}"/>
              </a:ext>
            </a:extLst>
          </p:cNvPr>
          <p:cNvSpPr/>
          <p:nvPr/>
        </p:nvSpPr>
        <p:spPr>
          <a:xfrm>
            <a:off x="2540939" y="2949823"/>
            <a:ext cx="1771971" cy="377429"/>
          </a:xfrm>
          <a:prstGeom prst="roundRect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 hash + blockchain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-backed records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C215AB0-2C48-2AED-1F0A-D02288B293F4}"/>
              </a:ext>
            </a:extLst>
          </p:cNvPr>
          <p:cNvSpPr/>
          <p:nvPr/>
        </p:nvSpPr>
        <p:spPr>
          <a:xfrm>
            <a:off x="160017" y="2949823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tampering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A2BC36D-F33F-C68B-D3E5-9A52885F1F70}"/>
              </a:ext>
            </a:extLst>
          </p:cNvPr>
          <p:cNvSpPr/>
          <p:nvPr/>
        </p:nvSpPr>
        <p:spPr>
          <a:xfrm>
            <a:off x="2540941" y="2498019"/>
            <a:ext cx="1771970" cy="377429"/>
          </a:xfrm>
          <a:prstGeom prst="roundRect">
            <a:avLst/>
          </a:prstGeom>
          <a:noFill/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build </a:t>
            </a:r>
            <a:r>
              <a:rPr lang="en-IN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robotic system for all Railway environment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F88B61FF-4B35-90DF-9C6E-2A0155E958F9}"/>
              </a:ext>
            </a:extLst>
          </p:cNvPr>
          <p:cNvSpPr/>
          <p:nvPr/>
        </p:nvSpPr>
        <p:spPr>
          <a:xfrm>
            <a:off x="160017" y="3400336"/>
            <a:ext cx="1771971" cy="377429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Detection ≠ Confirmation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AC4FFC9-2C21-33C8-4B02-0E06A6E6ACF5}"/>
              </a:ext>
            </a:extLst>
          </p:cNvPr>
          <p:cNvCxnSpPr>
            <a:cxnSpLocks/>
            <a:stCxn id="15" idx="3"/>
            <a:endCxn id="21" idx="1"/>
          </p:cNvCxnSpPr>
          <p:nvPr/>
        </p:nvCxnSpPr>
        <p:spPr>
          <a:xfrm flipV="1">
            <a:off x="1931989" y="1322735"/>
            <a:ext cx="608953" cy="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BC23159-6885-A17A-4FA4-4A5060CDF27A}"/>
              </a:ext>
            </a:extLst>
          </p:cNvPr>
          <p:cNvCxnSpPr>
            <a:cxnSpLocks/>
            <a:stCxn id="22" idx="3"/>
            <a:endCxn id="19" idx="1"/>
          </p:cNvCxnSpPr>
          <p:nvPr/>
        </p:nvCxnSpPr>
        <p:spPr>
          <a:xfrm>
            <a:off x="1931988" y="1777403"/>
            <a:ext cx="608953" cy="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13E22998-928D-9803-095C-038227331B4A}"/>
              </a:ext>
            </a:extLst>
          </p:cNvPr>
          <p:cNvCxnSpPr>
            <a:cxnSpLocks/>
            <a:stCxn id="17" idx="3"/>
            <a:endCxn id="18" idx="1"/>
          </p:cNvCxnSpPr>
          <p:nvPr/>
        </p:nvCxnSpPr>
        <p:spPr>
          <a:xfrm flipV="1">
            <a:off x="1931988" y="2232069"/>
            <a:ext cx="608953" cy="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A6145E29-DFB1-E633-AE58-892F58B7C6CC}"/>
              </a:ext>
            </a:extLst>
          </p:cNvPr>
          <p:cNvCxnSpPr>
            <a:cxnSpLocks/>
            <a:stCxn id="23" idx="3"/>
            <a:endCxn id="27" idx="1"/>
          </p:cNvCxnSpPr>
          <p:nvPr/>
        </p:nvCxnSpPr>
        <p:spPr>
          <a:xfrm flipV="1">
            <a:off x="1931988" y="2686734"/>
            <a:ext cx="608953" cy="129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C8A5A31-CB5B-A6D1-E053-5CB3611256F1}"/>
              </a:ext>
            </a:extLst>
          </p:cNvPr>
          <p:cNvCxnSpPr>
            <a:cxnSpLocks/>
            <a:stCxn id="26" idx="3"/>
            <a:endCxn id="25" idx="1"/>
          </p:cNvCxnSpPr>
          <p:nvPr/>
        </p:nvCxnSpPr>
        <p:spPr>
          <a:xfrm>
            <a:off x="1931988" y="3138538"/>
            <a:ext cx="608951" cy="0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31FA7075-F21E-E102-4042-06EF8B811480}"/>
              </a:ext>
            </a:extLst>
          </p:cNvPr>
          <p:cNvCxnSpPr>
            <a:cxnSpLocks/>
            <a:stCxn id="28" idx="3"/>
            <a:endCxn id="24" idx="1"/>
          </p:cNvCxnSpPr>
          <p:nvPr/>
        </p:nvCxnSpPr>
        <p:spPr>
          <a:xfrm>
            <a:off x="1931988" y="3589051"/>
            <a:ext cx="608951" cy="1291"/>
          </a:xfrm>
          <a:prstGeom prst="straightConnector1">
            <a:avLst/>
          </a:prstGeom>
          <a:ln w="9525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BBDDDD7A-1F81-A454-B512-3B41250190A0}"/>
              </a:ext>
            </a:extLst>
          </p:cNvPr>
          <p:cNvSpPr/>
          <p:nvPr/>
        </p:nvSpPr>
        <p:spPr>
          <a:xfrm>
            <a:off x="5286321" y="785309"/>
            <a:ext cx="2979420" cy="281604"/>
          </a:xfrm>
          <a:prstGeom prst="round2SameRect">
            <a:avLst/>
          </a:prstGeom>
          <a:ln>
            <a:solidFill>
              <a:srgbClr val="B9CDE5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FEASIBILITY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CD0B8AE9-6F9E-0C39-BA42-CFD9BE7F5F88}"/>
              </a:ext>
            </a:extLst>
          </p:cNvPr>
          <p:cNvSpPr/>
          <p:nvPr/>
        </p:nvSpPr>
        <p:spPr>
          <a:xfrm>
            <a:off x="4564547" y="1160458"/>
            <a:ext cx="2120044" cy="310160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YOLOv8 + OpenCV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Real-time detection</a:t>
            </a:r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16473F84-53A0-B30A-3E41-14C70478232E}"/>
              </a:ext>
            </a:extLst>
          </p:cNvPr>
          <p:cNvSpPr/>
          <p:nvPr/>
        </p:nvSpPr>
        <p:spPr>
          <a:xfrm>
            <a:off x="6776031" y="1160457"/>
            <a:ext cx="2120044" cy="306388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da-DK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mmWave Radar</a:t>
            </a:r>
            <a:r>
              <a:rPr lang="da-DK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Internal bag inspection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9C7072E5-D7B3-ADE4-DA7E-C34A77D0035D}"/>
              </a:ext>
            </a:extLst>
          </p:cNvPr>
          <p:cNvSpPr/>
          <p:nvPr/>
        </p:nvSpPr>
        <p:spPr>
          <a:xfrm>
            <a:off x="4564547" y="1522065"/>
            <a:ext cx="2120044" cy="311852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BME688</a:t>
            </a:r>
            <a:r>
              <a:rPr lang="en-IN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VOC-based detection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B7D5D544-C33C-50FC-7071-93FAD488AA8E}"/>
              </a:ext>
            </a:extLst>
          </p:cNvPr>
          <p:cNvSpPr/>
          <p:nvPr/>
        </p:nvSpPr>
        <p:spPr>
          <a:xfrm>
            <a:off x="4564546" y="1883681"/>
            <a:ext cx="2120044" cy="356485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it-IT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IPFS(Pinata) </a:t>
            </a:r>
            <a:r>
              <a:rPr lang="it-IT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tamper-evident storage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DEE5CDC4-FB50-D3D0-F8FB-97BDF7675FF7}"/>
              </a:ext>
            </a:extLst>
          </p:cNvPr>
          <p:cNvSpPr/>
          <p:nvPr/>
        </p:nvSpPr>
        <p:spPr>
          <a:xfrm>
            <a:off x="6776031" y="1511090"/>
            <a:ext cx="2120044" cy="717553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Black-box confirmation chamber: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RPF-collected swab +fluorescence reagent, read via UV emitter + photosensor.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CFAB6718-7A59-C076-894B-4FB01308BACE}"/>
              </a:ext>
            </a:extLst>
          </p:cNvPr>
          <p:cNvSpPr/>
          <p:nvPr/>
        </p:nvSpPr>
        <p:spPr>
          <a:xfrm>
            <a:off x="4564546" y="2280805"/>
            <a:ext cx="2120044" cy="547954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Blockchain (Solidity):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Immutable logging of detection records</a:t>
            </a:r>
            <a:r>
              <a:rPr lang="en-US" sz="1400" dirty="0"/>
              <a:t>.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Rectangle: Rounded Corners 64">
            <a:extLst>
              <a:ext uri="{FF2B5EF4-FFF2-40B4-BE49-F238E27FC236}">
                <a16:creationId xmlns:a16="http://schemas.microsoft.com/office/drawing/2014/main" id="{AE7A217A-A1A0-B1B3-2BDF-1B9CF83F916B}"/>
              </a:ext>
            </a:extLst>
          </p:cNvPr>
          <p:cNvSpPr/>
          <p:nvPr/>
        </p:nvSpPr>
        <p:spPr>
          <a:xfrm>
            <a:off x="6776031" y="2272888"/>
            <a:ext cx="2120044" cy="531487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LiDAR-SLAM 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 Auto + Manual navigation, real-time mapping, obstacle avoidance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3C2C2769-DAF0-F41A-2F11-5BC583F213E0}"/>
              </a:ext>
            </a:extLst>
          </p:cNvPr>
          <p:cNvSpPr/>
          <p:nvPr/>
        </p:nvSpPr>
        <p:spPr>
          <a:xfrm>
            <a:off x="160010" y="3903212"/>
            <a:ext cx="4152900" cy="77132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SPACE FOR GITHUB LINK</a:t>
            </a:r>
          </a:p>
        </p:txBody>
      </p:sp>
      <p:sp>
        <p:nvSpPr>
          <p:cNvPr id="74" name="Rectangle: Rounded Corners 73">
            <a:extLst>
              <a:ext uri="{FF2B5EF4-FFF2-40B4-BE49-F238E27FC236}">
                <a16:creationId xmlns:a16="http://schemas.microsoft.com/office/drawing/2014/main" id="{7180DC09-A5F3-AB02-6CDE-1376F8BEBB3A}"/>
              </a:ext>
            </a:extLst>
          </p:cNvPr>
          <p:cNvSpPr/>
          <p:nvPr/>
        </p:nvSpPr>
        <p:spPr>
          <a:xfrm>
            <a:off x="4921861" y="2998144"/>
            <a:ext cx="3659341" cy="24514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Approach --- Cost Comparison (INR Lakhs)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72616A-60CD-A56F-B2B1-AB7B08FC9B0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292" b="5068"/>
          <a:stretch/>
        </p:blipFill>
        <p:spPr>
          <a:xfrm>
            <a:off x="4598670" y="3294327"/>
            <a:ext cx="4297405" cy="140057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7"/>
          <p:cNvSpPr/>
          <p:nvPr/>
        </p:nvSpPr>
        <p:spPr>
          <a:xfrm>
            <a:off x="0" y="4766072"/>
            <a:ext cx="9144000" cy="377400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>
            <a:spLocks noGrp="1"/>
          </p:cNvSpPr>
          <p:nvPr>
            <p:ph type="title"/>
          </p:nvPr>
        </p:nvSpPr>
        <p:spPr>
          <a:xfrm>
            <a:off x="457200" y="-35719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latin typeface="Times New Roman"/>
                <a:ea typeface="Times New Roman"/>
                <a:cs typeface="Times New Roman"/>
                <a:sym typeface="Times New Roman"/>
              </a:rPr>
              <a:t>IMPACT AND BENEFITS</a:t>
            </a:r>
            <a:endParaRPr dirty="0"/>
          </a:p>
        </p:txBody>
      </p: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5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45" name="Google Shape;145;p17" descr="Your startup LOGO"/>
          <p:cNvSpPr/>
          <p:nvPr/>
        </p:nvSpPr>
        <p:spPr>
          <a:xfrm>
            <a:off x="253345" y="59794"/>
            <a:ext cx="1358887" cy="642343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C</a:t>
            </a:r>
            <a:r>
              <a:rPr lang="en" sz="1100" b="1" dirty="0">
                <a:solidFill>
                  <a:schemeClr val="dk1"/>
                </a:solidFill>
                <a:latin typeface="Algerian" panose="04020705040A02060702" pitchFamily="82" charset="0"/>
                <a:ea typeface="Calibri"/>
                <a:cs typeface="Calibri"/>
                <a:sym typeface="Calibri"/>
              </a:rPr>
              <a:t>yber Renegades</a:t>
            </a:r>
            <a:endParaRPr sz="1100" b="1" dirty="0">
              <a:solidFill>
                <a:schemeClr val="dk1"/>
              </a:solidFill>
              <a:latin typeface="Algerian" panose="04020705040A02060702" pitchFamily="82" charset="0"/>
              <a:ea typeface="Calibri"/>
              <a:cs typeface="Calibri"/>
              <a:sym typeface="Calibri"/>
            </a:endParaRPr>
          </a:p>
        </p:txBody>
      </p:sp>
      <p:pic>
        <p:nvPicPr>
          <p:cNvPr id="146" name="Google Shape;146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35064" y="1125"/>
            <a:ext cx="1687388" cy="79675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76EA62BD-2178-8C06-1304-65C3AC430179}"/>
                  </a:ext>
                </a:extLst>
              </p14:cNvPr>
              <p14:cNvContentPartPr/>
              <p14:nvPr/>
            </p14:nvContentPartPr>
            <p14:xfrm>
              <a:off x="4544947" y="1438613"/>
              <a:ext cx="360" cy="36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76EA62BD-2178-8C06-1304-65C3AC43017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540267" y="1433933"/>
                <a:ext cx="9360" cy="9360"/>
              </a:xfrm>
              <a:prstGeom prst="rect">
                <a:avLst/>
              </a:prstGeom>
            </p:spPr>
          </p:pic>
        </mc:Fallback>
      </mc:AlternateContent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5EAD63-600F-A4A5-7C9B-4298B6DF985F}"/>
              </a:ext>
            </a:extLst>
          </p:cNvPr>
          <p:cNvSpPr/>
          <p:nvPr/>
        </p:nvSpPr>
        <p:spPr>
          <a:xfrm>
            <a:off x="107242" y="886986"/>
            <a:ext cx="4110312" cy="3827392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AFA5F80-BE88-A2E1-1BE2-0AB029F45591}"/>
              </a:ext>
            </a:extLst>
          </p:cNvPr>
          <p:cNvSpPr/>
          <p:nvPr/>
        </p:nvSpPr>
        <p:spPr>
          <a:xfrm>
            <a:off x="1032325" y="802799"/>
            <a:ext cx="2198154" cy="238042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POTENTIAL IMPACT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2BA5C77-B37E-2BA7-304D-DCC6F36CA1A3}"/>
              </a:ext>
            </a:extLst>
          </p:cNvPr>
          <p:cNvSpPr/>
          <p:nvPr/>
        </p:nvSpPr>
        <p:spPr>
          <a:xfrm>
            <a:off x="392314" y="1106146"/>
            <a:ext cx="3529051" cy="649075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Portable Yet Powerful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Portable non-invasive inspection using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mm-Wave  Radar+ vision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compact system that can be easily moved where needed.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2D2639D-82AB-91A0-9A3A-D662F11DA07D}"/>
              </a:ext>
            </a:extLst>
          </p:cNvPr>
          <p:cNvSpPr/>
          <p:nvPr/>
        </p:nvSpPr>
        <p:spPr>
          <a:xfrm>
            <a:off x="392314" y="1836470"/>
            <a:ext cx="3529051" cy="645281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Supports RPF Officers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suspicious objects and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instantly alerts RPF officers,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helping them </a:t>
            </a: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faster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make informed decisions.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9459693-E21A-FC3C-E9BC-5B78F3FEBCD2}"/>
              </a:ext>
            </a:extLst>
          </p:cNvPr>
          <p:cNvSpPr/>
          <p:nvPr/>
        </p:nvSpPr>
        <p:spPr>
          <a:xfrm>
            <a:off x="392313" y="2563001"/>
            <a:ext cx="3529051" cy="539824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Enhanced Railway Security</a:t>
            </a:r>
            <a:r>
              <a:rPr 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identification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suspicious substances and objects.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3BF40D5-7D40-86BB-F1AE-1CCF8A2F86EE}"/>
              </a:ext>
            </a:extLst>
          </p:cNvPr>
          <p:cNvSpPr/>
          <p:nvPr/>
        </p:nvSpPr>
        <p:spPr>
          <a:xfrm>
            <a:off x="392311" y="3183366"/>
            <a:ext cx="3529051" cy="539825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1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Faster &amp; Targeted Inspection</a:t>
            </a:r>
            <a:r>
              <a:rPr lang="en-US" sz="1100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detection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activates relevant sensors only when required.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C1D9B2E-66BC-B180-81F1-4A39498BDD7E}"/>
              </a:ext>
            </a:extLst>
          </p:cNvPr>
          <p:cNvSpPr/>
          <p:nvPr/>
        </p:nvSpPr>
        <p:spPr>
          <a:xfrm>
            <a:off x="4346901" y="3226225"/>
            <a:ext cx="2289791" cy="1488873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multi-sensor setup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costly single systems.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 to deploy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multiple stations.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recurring costs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than manual or canine screening.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curb smuggling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reduce economic losses.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B0F7C660-71F3-50E8-063C-C0F35BD155BE}"/>
              </a:ext>
            </a:extLst>
          </p:cNvPr>
          <p:cNvSpPr/>
          <p:nvPr/>
        </p:nvSpPr>
        <p:spPr>
          <a:xfrm>
            <a:off x="4926087" y="991927"/>
            <a:ext cx="3387249" cy="1175090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Fewer false alarms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 less disruption to trains.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design works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across coaches, platforms, and tracks.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infrastructure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compared to fixed systems.</a:t>
            </a:r>
          </a:p>
          <a:p>
            <a:pPr marL="171450" lvl="0" indent="-171450">
              <a:buFont typeface="Wingdings" panose="05000000000000000000" pitchFamily="2" charset="2"/>
              <a:buChar char="§"/>
            </a:pP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AD589D9-0275-64BA-91E3-13191B5A32C8}"/>
              </a:ext>
            </a:extLst>
          </p:cNvPr>
          <p:cNvSpPr/>
          <p:nvPr/>
        </p:nvSpPr>
        <p:spPr>
          <a:xfrm>
            <a:off x="5745201" y="745876"/>
            <a:ext cx="1749022" cy="318959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AND OPERATIONAL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EDC0CE9-3E80-6B65-A3A9-55866E665CF3}"/>
              </a:ext>
            </a:extLst>
          </p:cNvPr>
          <p:cNvSpPr/>
          <p:nvPr/>
        </p:nvSpPr>
        <p:spPr>
          <a:xfrm>
            <a:off x="4988278" y="3102824"/>
            <a:ext cx="1148218" cy="18954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ECONOMIC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73ACCAE-F732-E424-7431-B2B61BC6664E}"/>
              </a:ext>
            </a:extLst>
          </p:cNvPr>
          <p:cNvSpPr/>
          <p:nvPr/>
        </p:nvSpPr>
        <p:spPr>
          <a:xfrm>
            <a:off x="5491797" y="2348809"/>
            <a:ext cx="2255830" cy="670578"/>
          </a:xfrm>
          <a:prstGeom prst="ellipse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rgbClr val="212121"/>
                </a:solidFill>
              </a:rPr>
              <a:t>MULTIDIMENSIONAL ADVANTAGES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D9E87CA8-9EFE-CA30-85F8-0B2011A96659}"/>
              </a:ext>
            </a:extLst>
          </p:cNvPr>
          <p:cNvCxnSpPr>
            <a:cxnSpLocks/>
            <a:stCxn id="39" idx="0"/>
            <a:endCxn id="28" idx="2"/>
          </p:cNvCxnSpPr>
          <p:nvPr/>
        </p:nvCxnSpPr>
        <p:spPr>
          <a:xfrm flipV="1">
            <a:off x="6619712" y="2167017"/>
            <a:ext cx="0" cy="18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A8985E5E-5FF5-83CC-7500-A2307BA386BE}"/>
              </a:ext>
            </a:extLst>
          </p:cNvPr>
          <p:cNvCxnSpPr>
            <a:cxnSpLocks/>
            <a:stCxn id="39" idx="3"/>
            <a:endCxn id="34" idx="0"/>
          </p:cNvCxnSpPr>
          <p:nvPr/>
        </p:nvCxnSpPr>
        <p:spPr>
          <a:xfrm flipH="1">
            <a:off x="5562387" y="2921183"/>
            <a:ext cx="259769" cy="1816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904CF3DF-578F-B2E4-F26B-329A2C63816B}"/>
              </a:ext>
            </a:extLst>
          </p:cNvPr>
          <p:cNvCxnSpPr>
            <a:cxnSpLocks/>
            <a:stCxn id="39" idx="5"/>
            <a:endCxn id="26" idx="0"/>
          </p:cNvCxnSpPr>
          <p:nvPr/>
        </p:nvCxnSpPr>
        <p:spPr>
          <a:xfrm>
            <a:off x="7417268" y="2921183"/>
            <a:ext cx="402102" cy="23038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7" name="Rectangle: Rounded Corners 136">
            <a:extLst>
              <a:ext uri="{FF2B5EF4-FFF2-40B4-BE49-F238E27FC236}">
                <a16:creationId xmlns:a16="http://schemas.microsoft.com/office/drawing/2014/main" id="{06A59867-584F-A070-2D52-D1069430DAF3}"/>
              </a:ext>
            </a:extLst>
          </p:cNvPr>
          <p:cNvSpPr/>
          <p:nvPr/>
        </p:nvSpPr>
        <p:spPr>
          <a:xfrm>
            <a:off x="6732661" y="3233817"/>
            <a:ext cx="2289791" cy="1488873"/>
          </a:xfrm>
          <a:prstGeom prst="roundRect">
            <a:avLst/>
          </a:prstGeom>
          <a:ln w="952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and more secure train travel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everyone.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workload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RPF personnel.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Builds public trust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through transparent and verifiable records.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E645462-765E-DBCD-092A-DC552F380C21}"/>
              </a:ext>
            </a:extLst>
          </p:cNvPr>
          <p:cNvSpPr/>
          <p:nvPr/>
        </p:nvSpPr>
        <p:spPr>
          <a:xfrm>
            <a:off x="7429586" y="3151565"/>
            <a:ext cx="779568" cy="190113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b="1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SOCIAL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5CD61C1-A11C-F34D-9CCE-762E0C1D955E}"/>
              </a:ext>
            </a:extLst>
          </p:cNvPr>
          <p:cNvSpPr/>
          <p:nvPr/>
        </p:nvSpPr>
        <p:spPr>
          <a:xfrm>
            <a:off x="366876" y="3834909"/>
            <a:ext cx="3529051" cy="767170"/>
          </a:xfrm>
          <a:prstGeom prst="roundRect">
            <a:avLst/>
          </a:prstGeom>
          <a:ln w="635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q"/>
            </a:pPr>
            <a:r>
              <a:rPr lang="en-US" sz="10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Scalable &amp; Easy Deployment</a:t>
            </a:r>
            <a:b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and portable architecture </a:t>
            </a:r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quick deployment across multiple railway stations, while additional units can be added easily as security requirements grow.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/>
          <p:nvPr/>
        </p:nvSpPr>
        <p:spPr>
          <a:xfrm>
            <a:off x="0" y="4766072"/>
            <a:ext cx="9143999" cy="377429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dist="23000" dir="5400000" rotWithShape="0">
              <a:srgbClr val="808080">
                <a:alpha val="34902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95373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xfrm>
            <a:off x="310106" y="0"/>
            <a:ext cx="7892716" cy="587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 b="1" dirty="0">
                <a:latin typeface="Times New Roman"/>
                <a:ea typeface="Times New Roman"/>
                <a:cs typeface="Times New Roman"/>
                <a:sym typeface="Times New Roman"/>
              </a:rPr>
              <a:t>RESEARCH  AND REFERENCES</a:t>
            </a:r>
            <a:endParaRPr dirty="0"/>
          </a:p>
        </p:txBody>
      </p:sp>
      <p:sp>
        <p:nvSpPr>
          <p:cNvPr id="155" name="Google Shape;155;p18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Oswald"/>
              <a:buNone/>
            </a:pPr>
            <a:fld id="{00000000-1234-1234-1234-123412341234}" type="slidenum">
              <a:rPr lang="en" sz="900" b="1" i="0" u="none" strike="noStrike" cap="none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6</a:t>
            </a:fld>
            <a:endParaRPr sz="900" b="1" i="0" u="none" strike="noStrike" cap="none">
              <a:solidFill>
                <a:srgbClr val="FFFFFF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7" name="Google Shape;157;p18" descr="Your startup LOGO"/>
          <p:cNvSpPr/>
          <p:nvPr/>
        </p:nvSpPr>
        <p:spPr>
          <a:xfrm>
            <a:off x="183823" y="48270"/>
            <a:ext cx="1292712" cy="478569"/>
          </a:xfrm>
          <a:prstGeom prst="ellipse">
            <a:avLst/>
          </a:prstGeom>
          <a:solidFill>
            <a:schemeClr val="lt1"/>
          </a:solidFill>
          <a:ln w="254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" sz="11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yber Renegades 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59128" y="0"/>
            <a:ext cx="1687388" cy="58707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" name="object 8">
            <a:extLst>
              <a:ext uri="{FF2B5EF4-FFF2-40B4-BE49-F238E27FC236}">
                <a16:creationId xmlns:a16="http://schemas.microsoft.com/office/drawing/2014/main" id="{A63AD5BE-08FF-5969-DF2D-966DDA67D840}"/>
              </a:ext>
            </a:extLst>
          </p:cNvPr>
          <p:cNvGraphicFramePr>
            <a:graphicFrameLocks noGrp="1"/>
          </p:cNvGraphicFramePr>
          <p:nvPr/>
        </p:nvGraphicFramePr>
        <p:xfrm>
          <a:off x="133579" y="696657"/>
          <a:ext cx="2916426" cy="403771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13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31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5272"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Research</a:t>
                      </a:r>
                      <a:r>
                        <a:rPr sz="900" b="1" spc="4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2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Area</a:t>
                      </a:r>
                      <a:endParaRPr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  <a:solidFill>
                      <a:srgbClr val="222222"/>
                    </a:solidFill>
                  </a:tcPr>
                </a:tc>
                <a:tc>
                  <a:txBody>
                    <a:bodyPr/>
                    <a:lstStyle/>
                    <a:p>
                      <a:pPr marL="41910" algn="ctr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Relevance</a:t>
                      </a:r>
                      <a:r>
                        <a:rPr sz="900" b="1" spc="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900" b="1" spc="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Our</a:t>
                      </a:r>
                      <a:r>
                        <a:rPr sz="900" b="1" spc="3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900" b="1" spc="-10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Solution</a:t>
                      </a:r>
                      <a:endParaRPr lang="en-US" sz="900" b="1" spc="-10" dirty="0">
                        <a:solidFill>
                          <a:srgbClr val="FFFFFF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1590" marB="0">
                    <a:lnL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2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740">
                <a:tc>
                  <a:txBody>
                    <a:bodyPr/>
                    <a:lstStyle/>
                    <a:p>
                      <a:pPr marL="41910" marR="342265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mmWave</a:t>
                      </a:r>
                      <a:r>
                        <a:rPr sz="1050" b="1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Radar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4445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Mm-Wave radar enables 3D spatial sensing for object detection.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7892">
                <a:tc>
                  <a:txBody>
                    <a:bodyPr/>
                    <a:lstStyle/>
                    <a:p>
                      <a:pPr marL="41910" marR="258445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</a:t>
                      </a:r>
                      <a:r>
                        <a:rPr sz="1050" b="1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Autonomous</a:t>
                      </a:r>
                      <a:r>
                        <a:rPr sz="1050" b="1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Screening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10604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lang="en-US"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fuses camera, mm-Wave 3D, and BME688 data for autonomous screening and targeted sensor activation.</a:t>
                      </a:r>
                      <a:endParaRPr lang="en-US" sz="1050" spc="-1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770">
                <a:tc>
                  <a:txBody>
                    <a:bodyPr/>
                    <a:lstStyle/>
                    <a:p>
                      <a:pPr marL="41910" marR="230504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IPFS</a:t>
                      </a:r>
                      <a:r>
                        <a:rPr sz="1050" b="1" spc="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r>
                        <a:rPr sz="1050" b="1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Blockchain</a:t>
                      </a:r>
                      <a:endParaRPr sz="105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Links</a:t>
                      </a:r>
                      <a:r>
                        <a:rPr sz="1050" spc="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050" spc="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physical</a:t>
                      </a:r>
                      <a:r>
                        <a:rPr sz="1050" spc="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</a:t>
                      </a:r>
                      <a:r>
                        <a:rPr sz="1050" spc="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</a:pPr>
                      <a:r>
                        <a:rPr sz="1100" spc="1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sz="11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</a:t>
                      </a:r>
                      <a:r>
                        <a:rPr sz="105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evidence</a:t>
                      </a:r>
                      <a:r>
                        <a:rPr sz="105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100" spc="1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→</a:t>
                      </a:r>
                      <a:r>
                        <a:rPr sz="11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chain</a:t>
                      </a:r>
                      <a:r>
                        <a:rPr sz="105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05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custody.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1590" marB="0">
                    <a:lnL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6956">
                <a:tc>
                  <a:txBody>
                    <a:bodyPr/>
                    <a:lstStyle/>
                    <a:p>
                      <a:pPr marL="41910" marR="274955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GPS-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Denied</a:t>
                      </a:r>
                      <a:r>
                        <a:rPr sz="1050" b="1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Localization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62230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Uses</a:t>
                      </a:r>
                      <a:r>
                        <a:rPr sz="1050" spc="1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LiDAR/vision/IMU-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based</a:t>
                      </a:r>
                      <a:r>
                        <a:rPr sz="1050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localization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GPS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sz="1050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unreliable</a:t>
                      </a:r>
                      <a:r>
                        <a:rPr sz="1050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sz="105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unavailable.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1163">
                <a:tc>
                  <a:txBody>
                    <a:bodyPr/>
                    <a:lstStyle/>
                    <a:p>
                      <a:pPr marL="4191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Adaptive</a:t>
                      </a:r>
                      <a:r>
                        <a:rPr sz="1050" b="1" spc="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41910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Event-Driven</a:t>
                      </a:r>
                      <a:r>
                        <a:rPr sz="1050" b="1" spc="9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Sensing</a:t>
                      </a:r>
                      <a:endParaRPr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159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154305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Camera/AI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activate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specific</a:t>
                      </a:r>
                      <a:r>
                        <a:rPr sz="1050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sensors</a:t>
                      </a:r>
                      <a:r>
                        <a:rPr sz="1050" spc="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only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when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required.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6956">
                <a:tc>
                  <a:txBody>
                    <a:bodyPr/>
                    <a:lstStyle/>
                    <a:p>
                      <a:pPr marL="41910" marR="225425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Human–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</a:t>
                      </a:r>
                      <a:r>
                        <a:rPr sz="1050" b="1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b="1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Collaboration</a:t>
                      </a:r>
                      <a:endParaRPr sz="1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>
                      <a:solidFill>
                        <a:srgbClr val="BEBEBE"/>
                      </a:solidFill>
                      <a:prstDash val="soli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>
                      <a:solidFill>
                        <a:srgbClr val="BEBEBE"/>
                      </a:solidFill>
                      <a:prstDash val="soli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1910" marR="123825">
                        <a:lnSpc>
                          <a:spcPct val="113900"/>
                        </a:lnSpc>
                        <a:spcBef>
                          <a:spcPts val="110"/>
                        </a:spcBef>
                      </a:pP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Robot</a:t>
                      </a:r>
                      <a:r>
                        <a:rPr sz="1050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performs</a:t>
                      </a:r>
                      <a:r>
                        <a:rPr sz="1050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screening</a:t>
                      </a:r>
                      <a:r>
                        <a:rPr sz="1050" spc="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while</a:t>
                      </a:r>
                      <a:r>
                        <a:rPr sz="1050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security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personnel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make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050" spc="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</a:t>
                      </a:r>
                      <a:r>
                        <a:rPr sz="1050" spc="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05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decision.</a:t>
                      </a:r>
                      <a:endParaRPr sz="1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970" marB="0">
                    <a:lnL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BEBEBE"/>
                      </a:solidFill>
                      <a:prstDash val="solid"/>
                    </a:lnR>
                    <a:lnT w="6350" cap="flat" cmpd="sng" algn="ctr">
                      <a:solidFill>
                        <a:srgbClr val="BEBE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BEBEB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" name="object 9">
            <a:extLst>
              <a:ext uri="{FF2B5EF4-FFF2-40B4-BE49-F238E27FC236}">
                <a16:creationId xmlns:a16="http://schemas.microsoft.com/office/drawing/2014/main" id="{120F236B-309C-44B1-DCF2-6213963BFD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113174" y="587079"/>
            <a:ext cx="5961646" cy="321562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0" indent="0">
              <a:lnSpc>
                <a:spcPct val="100000"/>
              </a:lnSpc>
              <a:spcBef>
                <a:spcPts val="95"/>
              </a:spcBef>
              <a:buNone/>
            </a:pPr>
            <a:r>
              <a:rPr sz="14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1400" u="sng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400" u="sng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184150" indent="-171450">
              <a:lnSpc>
                <a:spcPct val="100000"/>
              </a:lnSpc>
              <a:spcBef>
                <a:spcPts val="830"/>
              </a:spcBef>
              <a:buSzPct val="155555"/>
              <a:buFont typeface="Wingdings" panose="05000000000000000000" pitchFamily="2" charset="2"/>
              <a:buChar char="v"/>
              <a:tabLst>
                <a:tab pos="87630" algn="l"/>
              </a:tabLst>
            </a:pP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Texas</a:t>
            </a:r>
            <a:r>
              <a:rPr sz="1100" b="1" u="none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Instruments</a:t>
            </a:r>
            <a:r>
              <a:rPr sz="1100" b="1" u="none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IWR6843AOP</a:t>
            </a:r>
            <a:r>
              <a:rPr sz="1100" b="1" u="none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(60</a:t>
            </a:r>
            <a:r>
              <a:rPr sz="1100" b="1" u="none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GHz</a:t>
            </a:r>
            <a:r>
              <a:rPr sz="1100" b="1" u="none" spc="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mmWave</a:t>
            </a:r>
            <a:r>
              <a:rPr sz="1100" b="1" u="none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FMCW</a:t>
            </a:r>
            <a:r>
              <a:rPr sz="1100" b="1" u="none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Radar</a:t>
            </a:r>
            <a:r>
              <a:rPr sz="1100" b="1" u="none" spc="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0810" lvl="1" indent="-635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30810" algn="l"/>
              </a:tabLst>
            </a:pP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https://www.ti.com/product/IWR6843AOP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0810" lvl="1" indent="-63500">
              <a:lnSpc>
                <a:spcPct val="100000"/>
              </a:lnSpc>
              <a:spcBef>
                <a:spcPts val="100"/>
              </a:spcBef>
              <a:buFont typeface="Lucida Sans Unicode"/>
              <a:buChar char="►"/>
              <a:tabLst>
                <a:tab pos="130810" algn="l"/>
              </a:tabLst>
            </a:pP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https://www.ti.com/tool/IWR6843AOPEVM</a:t>
            </a:r>
            <a:endParaRPr lang="en-US" sz="1100" u="sng" spc="-10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310" lvl="1" indent="0">
              <a:lnSpc>
                <a:spcPct val="100000"/>
              </a:lnSpc>
              <a:spcBef>
                <a:spcPts val="100"/>
              </a:spcBef>
              <a:buNone/>
              <a:tabLst>
                <a:tab pos="130810" algn="l"/>
              </a:tabLst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49" indent="-171450">
              <a:lnSpc>
                <a:spcPct val="100000"/>
              </a:lnSpc>
              <a:spcBef>
                <a:spcPts val="265"/>
              </a:spcBef>
              <a:buSzPct val="155555"/>
              <a:buFont typeface="Wingdings" panose="05000000000000000000" pitchFamily="2" charset="2"/>
              <a:buChar char="v"/>
              <a:tabLst>
                <a:tab pos="104139" algn="l"/>
              </a:tabLst>
            </a:pP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Bosch</a:t>
            </a:r>
            <a:r>
              <a:rPr sz="1100" b="1" u="none" spc="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Sensortec</a:t>
            </a:r>
            <a:r>
              <a:rPr sz="1100" b="1" u="none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BME688</a:t>
            </a:r>
            <a:r>
              <a:rPr sz="1100" b="1" u="none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0810" lvl="1" indent="-635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30810" algn="l"/>
              </a:tabLst>
            </a:pPr>
            <a:r>
              <a:rPr lang="en-US" sz="11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</a:t>
            </a:r>
            <a:r>
              <a:rPr sz="11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ttps://www.bosch-sensortec.com/en/products/environmental-sensors/gas-</a:t>
            </a: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sensors/bme688</a:t>
            </a:r>
            <a:endParaRPr lang="en-US" sz="1100" u="sng" spc="-10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310" lvl="1" indent="0">
              <a:lnSpc>
                <a:spcPct val="100000"/>
              </a:lnSpc>
              <a:spcBef>
                <a:spcPts val="95"/>
              </a:spcBef>
              <a:buNone/>
              <a:tabLst>
                <a:tab pos="130810" algn="l"/>
              </a:tabLst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indent="-171450">
              <a:lnSpc>
                <a:spcPct val="100000"/>
              </a:lnSpc>
              <a:spcBef>
                <a:spcPts val="270"/>
              </a:spcBef>
              <a:buSzPct val="155555"/>
              <a:buFont typeface="Wingdings" panose="05000000000000000000" pitchFamily="2" charset="2"/>
              <a:buChar char="v"/>
              <a:tabLst>
                <a:tab pos="87630" algn="l"/>
              </a:tabLst>
            </a:pP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</a:t>
            </a:r>
            <a:r>
              <a:rPr sz="1100" b="1" u="none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IPFS</a:t>
            </a:r>
            <a:r>
              <a:rPr sz="1100" b="1" u="none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sz="1100" b="1" u="none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1100" b="1" u="none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</a:t>
            </a:r>
            <a:r>
              <a:rPr sz="1100" b="1" u="none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0810" lvl="1" indent="-635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30810" algn="l"/>
              </a:tabLst>
            </a:pP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https://arxiv.org/abs/1407.3561</a:t>
            </a:r>
            <a:endParaRPr lang="en-US" sz="1100" u="sng" spc="-10" dirty="0">
              <a:solidFill>
                <a:srgbClr val="0563C1"/>
              </a:solidFill>
              <a:uFill>
                <a:solidFill>
                  <a:srgbClr val="0563C1"/>
                </a:solidFill>
              </a:u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7310" lvl="1" indent="0">
              <a:lnSpc>
                <a:spcPct val="100000"/>
              </a:lnSpc>
              <a:spcBef>
                <a:spcPts val="95"/>
              </a:spcBef>
              <a:buNone/>
              <a:tabLst>
                <a:tab pos="130810" algn="l"/>
              </a:tabLst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indent="-171450">
              <a:lnSpc>
                <a:spcPct val="100000"/>
              </a:lnSpc>
              <a:spcBef>
                <a:spcPts val="270"/>
              </a:spcBef>
              <a:buSzPct val="155555"/>
              <a:buFont typeface="Wingdings" panose="05000000000000000000" pitchFamily="2" charset="2"/>
              <a:buChar char="v"/>
              <a:tabLst>
                <a:tab pos="87630" algn="l"/>
              </a:tabLst>
            </a:pPr>
            <a:r>
              <a:rPr lang="fr-FR" sz="1100" b="1" spc="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Detection</a:t>
            </a:r>
            <a:r>
              <a:rPr lang="fr-FR" sz="11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b="1" spc="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Principle</a:t>
            </a:r>
            <a:r>
              <a:rPr lang="fr-FR" sz="1100" b="1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DCM Fluorescence </a:t>
            </a:r>
            <a:r>
              <a:rPr lang="fr-FR" sz="1100" b="1" spc="1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Quenching</a:t>
            </a:r>
            <a:endParaRPr lang="fr-FR" sz="1100" b="1" spc="1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9700" indent="0">
              <a:spcBef>
                <a:spcPts val="270"/>
              </a:spcBef>
              <a:buNone/>
              <a:tabLst>
                <a:tab pos="87630" algn="l"/>
              </a:tabLst>
            </a:pPr>
            <a:r>
              <a:rPr lang="fr-FR" sz="1100" b="1" u="sng" spc="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100" u="sng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</a:rPr>
              <a:t>Wang et al., Scientific Reports 6:25015 (2016)DOI: 10.1038/srep25015</a:t>
            </a:r>
          </a:p>
          <a:p>
            <a:pPr marL="139700" indent="0">
              <a:spcBef>
                <a:spcPts val="270"/>
              </a:spcBef>
              <a:buNone/>
              <a:tabLst>
                <a:tab pos="87630" algn="l"/>
              </a:tabLst>
            </a:pP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84150" indent="-171450">
              <a:lnSpc>
                <a:spcPct val="100000"/>
              </a:lnSpc>
              <a:spcBef>
                <a:spcPts val="265"/>
              </a:spcBef>
              <a:buSzPct val="155555"/>
              <a:buFont typeface="Wingdings" panose="05000000000000000000" pitchFamily="2" charset="2"/>
              <a:buChar char="v"/>
              <a:tabLst>
                <a:tab pos="87630" algn="l"/>
              </a:tabLst>
            </a:pP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Anthropic</a:t>
            </a:r>
            <a:r>
              <a:rPr sz="1100" b="1" u="none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Claude</a:t>
            </a:r>
            <a:r>
              <a:rPr sz="1100" b="1" u="none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</a:t>
            </a:r>
            <a:r>
              <a:rPr sz="1100" b="1" u="none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</a:t>
            </a:r>
            <a:r>
              <a:rPr sz="1100" b="1" u="none" spc="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00" b="1" u="none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</a:t>
            </a:r>
            <a:endParaRPr sz="11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0810" lvl="1" indent="-63500">
              <a:lnSpc>
                <a:spcPct val="100000"/>
              </a:lnSpc>
              <a:spcBef>
                <a:spcPts val="95"/>
              </a:spcBef>
              <a:buFont typeface="Lucida Sans Unicode"/>
              <a:buChar char="►"/>
              <a:tabLst>
                <a:tab pos="130810" algn="l"/>
              </a:tabLst>
            </a:pPr>
            <a:r>
              <a:rPr sz="1100" u="sng" spc="-10" dirty="0">
                <a:solidFill>
                  <a:srgbClr val="0563C1"/>
                </a:solidFill>
                <a:uFill>
                  <a:solidFill>
                    <a:srgbClr val="0563C1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https://www.anthropic.com/claude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UCID-SOURCE" val="FYUxkclSuxgZ"/>
  <p:tag name="LUCID-DOCUMENT" val="81605e93-2889-4f10-90b0-fcb3ccfb58aa"/>
  <p:tag name="LUCID-UPDATE-TIME" val="1790442156812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11106</TotalTime>
  <Words>1015</Words>
  <Application>Microsoft Office PowerPoint</Application>
  <PresentationFormat>On-screen Show (16:9)</PresentationFormat>
  <Paragraphs>188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Calibri</vt:lpstr>
      <vt:lpstr>Wingdings</vt:lpstr>
      <vt:lpstr>Times New Roman</vt:lpstr>
      <vt:lpstr>Oswald</vt:lpstr>
      <vt:lpstr>Lucida Sans Unicode</vt:lpstr>
      <vt:lpstr>Algerian</vt:lpstr>
      <vt:lpstr>Arial</vt:lpstr>
      <vt:lpstr>ＭＳ Ｐゴシック</vt:lpstr>
      <vt:lpstr>Garamond</vt:lpstr>
      <vt:lpstr>Office Theme</vt:lpstr>
      <vt:lpstr>SMART INDIA HACKATHON 2026</vt:lpstr>
      <vt:lpstr> RAKSHAK-K9:Autonomous Multi-Sensor Robotic System for Real-Time Detection of Narcotics and Explosives Across Indian Railways  </vt:lpstr>
      <vt:lpstr>TECHNICAL APPROACH</vt:lpstr>
      <vt:lpstr>FEASIBILITY AND VIABILITY</vt:lpstr>
      <vt:lpstr>IMPACT AND BENEFITS</vt:lpstr>
      <vt:lpstr>RESEARCH  AND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nikhil kumar</cp:lastModifiedBy>
  <cp:revision>41</cp:revision>
  <dcterms:modified xsi:type="dcterms:W3CDTF">2026-09-29T09:55:50Z</dcterms:modified>
</cp:coreProperties>
</file>